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778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8DA3F0C-FBED-ED60-25D3-13B8AA7C588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048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CL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214313" y="285750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01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214313" y="4507706"/>
            <a:ext cx="157162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Contexto y Objetivo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571750" y="428625"/>
            <a:ext cx="6000750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1" b="1" kern="0" spc="-2" dirty="0">
                <a:solidFill>
                  <a:srgbClr val="111111"/>
                </a:solidFill>
              </a:rPr>
              <a:t>Certificate Pinning en Banca</a:t>
            </a:r>
            <a:endParaRPr lang="en-US" sz="3731" dirty="0"/>
          </a:p>
        </p:txBody>
      </p:sp>
      <p:sp>
        <p:nvSpPr>
          <p:cNvPr id="8" name="Text 5"/>
          <p:cNvSpPr/>
          <p:nvPr/>
        </p:nvSpPr>
        <p:spPr>
          <a:xfrm>
            <a:off x="2571750" y="1703059"/>
            <a:ext cx="6000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Arquitectura y Operación 2026</a:t>
            </a:r>
            <a:endParaRPr lang="en-US" sz="119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913" y="2282596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71800" y="2251342"/>
            <a:ext cx="19987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Problema que Resuelve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2728913" y="2592456"/>
            <a:ext cx="275748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Mitigación efectiva de ataques MITM, incluso con CAs raíz instaladas en dispositivo, emisión indebida o inspección TLS no autorizada.</a:t>
            </a:r>
            <a:endParaRPr lang="en-US" sz="942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013" y="2282596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7900" y="2251342"/>
            <a:ext cx="16999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Lo que NO Resuelve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5815013" y="2592456"/>
            <a:ext cx="275748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No protege contra dispositivos comprometidos (root/jailbreak), hooking en runtime, patching de binarios o ingeniería inversa.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2728913" y="3884051"/>
            <a:ext cx="5843588" cy="48220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1"/>
          <p:cNvSpPr/>
          <p:nvPr/>
        </p:nvSpPr>
        <p:spPr>
          <a:xfrm>
            <a:off x="2728913" y="3884051"/>
            <a:ext cx="71438" cy="482203"/>
          </a:xfrm>
          <a:prstGeom prst="rect">
            <a:avLst/>
          </a:prstGeom>
          <a:solidFill>
            <a:srgbClr val="FF330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4638" y="3991208"/>
            <a:ext cx="114300" cy="1143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958657" y="3969776"/>
            <a:ext cx="5769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F5F5"/>
                </a:solidFill>
              </a:rPr>
              <a:t>OBJETIVO:</a:t>
            </a:r>
            <a:endParaRPr lang="en-US" sz="784" dirty="0"/>
          </a:p>
        </p:txBody>
      </p:sp>
      <p:sp>
        <p:nvSpPr>
          <p:cNvPr id="19" name="Text 13"/>
          <p:cNvSpPr/>
          <p:nvPr/>
        </p:nvSpPr>
        <p:spPr>
          <a:xfrm>
            <a:off x="3535654" y="3969776"/>
            <a:ext cx="44581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5F5F5"/>
                </a:solidFill>
              </a:rPr>
              <a:t>Entender SPKI pinning desde una perspectiva de arquitectura y operación robusta,</a:t>
            </a:r>
            <a:endParaRPr lang="en-US" sz="834" dirty="0"/>
          </a:p>
        </p:txBody>
      </p:sp>
      <p:sp>
        <p:nvSpPr>
          <p:cNvPr id="20" name="Text 14"/>
          <p:cNvSpPr/>
          <p:nvPr/>
        </p:nvSpPr>
        <p:spPr>
          <a:xfrm>
            <a:off x="2814638" y="4125153"/>
            <a:ext cx="26604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5F5F5"/>
                </a:solidFill>
              </a:rPr>
              <a:t>superando la visión de "solo una línea de código".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214313" y="285750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02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214313" y="4682728"/>
            <a:ext cx="1571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Terminología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571750" y="428625"/>
            <a:ext cx="600075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Aclaración Terminológica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571750" y="940101"/>
            <a:ext cx="6000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Del Legado al Estándar 2026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586038" y="1431234"/>
            <a:ext cx="2986088" cy="326935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5557838" y="1431234"/>
            <a:ext cx="14288" cy="326935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475" y="1539283"/>
            <a:ext cx="200025" cy="200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8938" y="1502671"/>
            <a:ext cx="14881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66666"/>
                </a:solidFill>
              </a:rPr>
              <a:t>"SSL Pinning"</a:t>
            </a:r>
            <a:endParaRPr lang="en-US" sz="1397" dirty="0"/>
          </a:p>
        </p:txBody>
      </p:sp>
      <p:sp>
        <p:nvSpPr>
          <p:cNvPr id="13" name="Text 9"/>
          <p:cNvSpPr/>
          <p:nvPr/>
        </p:nvSpPr>
        <p:spPr>
          <a:xfrm>
            <a:off x="2657475" y="1918795"/>
            <a:ext cx="28432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11111"/>
                </a:solidFill>
              </a:rPr>
              <a:t>Qué pinea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2657475" y="2096300"/>
            <a:ext cx="250862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Certificado X.509 completo (incluye firma, validez, emisor).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2657475" y="2597423"/>
            <a:ext cx="28432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11111"/>
                </a:solidFill>
              </a:rPr>
              <a:t>Problema Operativo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2657475" y="2774928"/>
            <a:ext cx="282328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Cada renovación de certificado rompe la app si no se coordina al segundo.</a:t>
            </a:r>
            <a:endParaRPr lang="en-US" sz="942" dirty="0"/>
          </a:p>
        </p:txBody>
      </p:sp>
      <p:sp>
        <p:nvSpPr>
          <p:cNvPr id="17" name="Text 13"/>
          <p:cNvSpPr/>
          <p:nvPr/>
        </p:nvSpPr>
        <p:spPr>
          <a:xfrm>
            <a:off x="2657475" y="3276051"/>
            <a:ext cx="28432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11111"/>
                </a:solidFill>
              </a:rPr>
              <a:t>Estado 2026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2657475" y="3453557"/>
            <a:ext cx="14472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3300"/>
                </a:solidFill>
              </a:rPr>
              <a:t>OBSOLETO / RIESGOSO</a:t>
            </a:r>
            <a:endParaRPr lang="en-US" sz="885" dirty="0"/>
          </a:p>
        </p:txBody>
      </p:sp>
      <p:sp>
        <p:nvSpPr>
          <p:cNvPr id="19" name="Shape 15"/>
          <p:cNvSpPr/>
          <p:nvPr/>
        </p:nvSpPr>
        <p:spPr>
          <a:xfrm>
            <a:off x="5572125" y="1431234"/>
            <a:ext cx="2986088" cy="32693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563" y="1539283"/>
            <a:ext cx="200025" cy="2000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15025" y="1502671"/>
            <a:ext cx="141239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44CC"/>
                </a:solidFill>
              </a:rPr>
              <a:t>SPKI Pinning</a:t>
            </a:r>
            <a:endParaRPr lang="en-US" sz="1397" dirty="0"/>
          </a:p>
        </p:txBody>
      </p:sp>
      <p:sp>
        <p:nvSpPr>
          <p:cNvPr id="22" name="Text 17"/>
          <p:cNvSpPr/>
          <p:nvPr/>
        </p:nvSpPr>
        <p:spPr>
          <a:xfrm>
            <a:off x="5643563" y="1918795"/>
            <a:ext cx="28432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11111"/>
                </a:solidFill>
              </a:rPr>
              <a:t>Qué pinea</a:t>
            </a:r>
            <a:endParaRPr lang="en-US" sz="683" dirty="0"/>
          </a:p>
        </p:txBody>
      </p:sp>
      <p:sp>
        <p:nvSpPr>
          <p:cNvPr id="23" name="Text 18"/>
          <p:cNvSpPr/>
          <p:nvPr/>
        </p:nvSpPr>
        <p:spPr>
          <a:xfrm>
            <a:off x="5643563" y="2096300"/>
            <a:ext cx="2269201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Hash SHA-256 solo de la clave pública (SubjectPublicKeyInfo).</a:t>
            </a:r>
            <a:endParaRPr lang="en-US" sz="942" dirty="0"/>
          </a:p>
        </p:txBody>
      </p:sp>
      <p:sp>
        <p:nvSpPr>
          <p:cNvPr id="24" name="Text 19"/>
          <p:cNvSpPr/>
          <p:nvPr/>
        </p:nvSpPr>
        <p:spPr>
          <a:xfrm>
            <a:off x="5643563" y="2597423"/>
            <a:ext cx="28432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11111"/>
                </a:solidFill>
              </a:rPr>
              <a:t>Ventaja Operativa</a:t>
            </a:r>
            <a:endParaRPr lang="en-US" sz="683" dirty="0"/>
          </a:p>
        </p:txBody>
      </p:sp>
      <p:sp>
        <p:nvSpPr>
          <p:cNvPr id="25" name="Text 20"/>
          <p:cNvSpPr/>
          <p:nvPr/>
        </p:nvSpPr>
        <p:spPr>
          <a:xfrm>
            <a:off x="5643563" y="2774928"/>
            <a:ext cx="2769654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Permite renovar el certificado manteniendo la misma clave (Key Rotation).</a:t>
            </a:r>
            <a:endParaRPr lang="en-US" sz="942" dirty="0"/>
          </a:p>
        </p:txBody>
      </p:sp>
      <p:sp>
        <p:nvSpPr>
          <p:cNvPr id="26" name="Text 21"/>
          <p:cNvSpPr/>
          <p:nvPr/>
        </p:nvSpPr>
        <p:spPr>
          <a:xfrm>
            <a:off x="5643563" y="3276051"/>
            <a:ext cx="28432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11111"/>
                </a:solidFill>
              </a:rPr>
              <a:t>Estado 2026</a:t>
            </a:r>
            <a:endParaRPr lang="en-US" sz="683" dirty="0"/>
          </a:p>
        </p:txBody>
      </p:sp>
      <p:sp>
        <p:nvSpPr>
          <p:cNvPr id="27" name="Text 22"/>
          <p:cNvSpPr/>
          <p:nvPr/>
        </p:nvSpPr>
        <p:spPr>
          <a:xfrm>
            <a:off x="5643563" y="3453557"/>
            <a:ext cx="13887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44CC"/>
                </a:solidFill>
              </a:rPr>
              <a:t>ESTÁNDAR BANCARIO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32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63245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63245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214313" y="285750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03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214313" y="5003806"/>
            <a:ext cx="157162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Modelo de Amenaza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428875" y="285750"/>
            <a:ext cx="6286500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Modelo de Amenaza Bancario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428875" y="1237264"/>
            <a:ext cx="6286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Alcance y Límites del Pinning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428875" y="1785547"/>
            <a:ext cx="6286500" cy="2000250"/>
          </a:xfrm>
          <a:prstGeom prst="rect">
            <a:avLst/>
          </a:prstGeom>
          <a:solidFill>
            <a:srgbClr val="FFFFFF"/>
          </a:solidFill>
          <a:ln w="18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858" y="1785547"/>
            <a:ext cx="3582535" cy="200022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875" y="4397480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43188" y="4371584"/>
            <a:ext cx="200611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4CC"/>
                </a:solidFill>
              </a:rPr>
              <a:t>SÍ Mitiga (Network Level)</a:t>
            </a:r>
            <a:endParaRPr lang="en-US" sz="987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8875" y="4701983"/>
            <a:ext cx="100013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00325" y="4673408"/>
            <a:ext cx="2219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MITM con CA raíz instalada en dispositivo</a:t>
            </a:r>
            <a:endParaRPr lang="en-US" sz="834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875" y="4928797"/>
            <a:ext cx="100013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600325" y="4900222"/>
            <a:ext cx="20555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Inspección TLS no autorizada (Proxies)</a:t>
            </a:r>
            <a:endParaRPr lang="en-US" sz="834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8875" y="5155611"/>
            <a:ext cx="100013" cy="10001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600325" y="5127036"/>
            <a:ext cx="26977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Emisión indebida de certificados (CA Compromise)</a:t>
            </a:r>
            <a:endParaRPr lang="en-US" sz="834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4397480"/>
            <a:ext cx="142875" cy="14287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929313" y="4371584"/>
            <a:ext cx="18883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300"/>
                </a:solidFill>
              </a:rPr>
              <a:t>NO Mitiga (Device Level)</a:t>
            </a:r>
            <a:endParaRPr lang="en-US" sz="987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0" y="4701983"/>
            <a:ext cx="62508" cy="10001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848945" y="4673408"/>
            <a:ext cx="22664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Dispositivo comprometido (Root/Jailbreak)</a:t>
            </a:r>
            <a:endParaRPr lang="en-US" sz="834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0" y="4928797"/>
            <a:ext cx="62508" cy="100013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848945" y="4900222"/>
            <a:ext cx="1806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Hooking / Instrumentation (Frida)</a:t>
            </a:r>
            <a:endParaRPr lang="en-US" sz="834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0" y="5155611"/>
            <a:ext cx="62508" cy="100013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848945" y="5127036"/>
            <a:ext cx="16056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Patching del binario de la App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214313" y="285750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04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214313" y="4682728"/>
            <a:ext cx="1571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Definición Técnica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428875" y="285750"/>
            <a:ext cx="628650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Qué es SPKI Pinning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428875" y="797226"/>
            <a:ext cx="6286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SubjectPublicKeyInfo: El Estándar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428875" y="1345509"/>
            <a:ext cx="3643313" cy="3512241"/>
          </a:xfrm>
          <a:prstGeom prst="rect">
            <a:avLst/>
          </a:prstGeom>
          <a:solidFill>
            <a:srgbClr val="FFFFFF"/>
          </a:solidFill>
          <a:ln w="18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313" y="2124428"/>
            <a:ext cx="3500438" cy="1954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22231" y="1345509"/>
            <a:ext cx="22931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Paso 01: Extracción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6422231" y="1516959"/>
            <a:ext cx="229314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Se aísla la estructura ASN.1 DER que contiene el algoritmo y la clave pública del certificado.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6422231" y="2139860"/>
            <a:ext cx="22931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Paso 02: Hashing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6422231" y="2311310"/>
            <a:ext cx="22931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Se aplica SHA-256 a los bytes extraídos para obtener una huella digital única y fija.</a:t>
            </a:r>
            <a:endParaRPr lang="en-US" sz="834" dirty="0"/>
          </a:p>
        </p:txBody>
      </p:sp>
      <p:sp>
        <p:nvSpPr>
          <p:cNvPr id="15" name="Text 11"/>
          <p:cNvSpPr/>
          <p:nvPr/>
        </p:nvSpPr>
        <p:spPr>
          <a:xfrm>
            <a:off x="6286500" y="2774203"/>
            <a:ext cx="2428875" cy="78581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&gt; POR QUÉ SPKI:
 A diferencia del certificado completo, el SPKI no cambia al renovar el certificado si mantienes la misma Keypair.</a:t>
            </a:r>
            <a:endParaRPr lang="en-US" sz="683" dirty="0"/>
          </a:p>
        </p:txBody>
      </p:sp>
      <p:sp>
        <p:nvSpPr>
          <p:cNvPr id="16" name="Shape 12"/>
          <p:cNvSpPr/>
          <p:nvPr/>
        </p:nvSpPr>
        <p:spPr>
          <a:xfrm>
            <a:off x="6286500" y="4255889"/>
            <a:ext cx="2428875" cy="60186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6286500" y="4255889"/>
            <a:ext cx="28575" cy="601861"/>
          </a:xfrm>
          <a:prstGeom prst="rect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4"/>
          <p:cNvSpPr/>
          <p:nvPr/>
        </p:nvSpPr>
        <p:spPr>
          <a:xfrm>
            <a:off x="6393656" y="4363045"/>
            <a:ext cx="221456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16" dirty="0">
                <a:solidFill>
                  <a:srgbClr val="888888"/>
                </a:solidFill>
              </a:rPr>
              <a:t>Ejemplo de Pin (Base64)</a:t>
            </a:r>
            <a:endParaRPr lang="en-US" sz="516" dirty="0"/>
          </a:p>
        </p:txBody>
      </p:sp>
      <p:sp>
        <p:nvSpPr>
          <p:cNvPr id="19" name="Text 15"/>
          <p:cNvSpPr/>
          <p:nvPr/>
        </p:nvSpPr>
        <p:spPr>
          <a:xfrm>
            <a:off x="6393656" y="4496991"/>
            <a:ext cx="21761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00FF00"/>
                </a:solidFill>
              </a:rPr>
              <a:t>47DEQpj8HBSa+/TImW+5JCeuQeRkm5NMpjWZG3</a:t>
            </a:r>
            <a:endParaRPr lang="en-US" sz="674" dirty="0"/>
          </a:p>
        </p:txBody>
      </p:sp>
      <p:sp>
        <p:nvSpPr>
          <p:cNvPr id="20" name="Text 16"/>
          <p:cNvSpPr/>
          <p:nvPr/>
        </p:nvSpPr>
        <p:spPr>
          <a:xfrm>
            <a:off x="6393656" y="4623792"/>
            <a:ext cx="3350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00FF00"/>
                </a:solidFill>
              </a:rPr>
              <a:t>hSuFU=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09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7098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7098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214313" y="285750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05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214313" y="4535193"/>
            <a:ext cx="157162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Ventajas Operativas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571750" y="428625"/>
            <a:ext cx="600075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Por qué SPKI Pinning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571750" y="940101"/>
            <a:ext cx="6000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La Opción Correcta en Banca</a:t>
            </a:r>
            <a:endParaRPr lang="en-US" sz="119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919" y="1631259"/>
            <a:ext cx="2650331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78919" y="1967015"/>
            <a:ext cx="26503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Renovación sin Ruptura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2778919" y="2272410"/>
            <a:ext cx="265033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Permite renovar el certificado manteniendo la misma </a:t>
            </a:r>
            <a:r>
              <a:rPr lang="en-US" sz="885" b="1" dirty="0">
                <a:solidFill>
                  <a:srgbClr val="111111"/>
                </a:solidFill>
              </a:rPr>
              <a:t>keypair</a:t>
            </a:r>
            <a:r>
              <a:rPr lang="en-US" sz="942" dirty="0">
                <a:solidFill>
                  <a:srgbClr val="333333"/>
                </a:solidFill>
              </a:rPr>
              <a:t>. Los clientes no notan el cambio y el servicio continúa ininterrumpido.</a:t>
            </a:r>
            <a:endParaRPr lang="en-US" sz="942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169" y="1631259"/>
            <a:ext cx="2650331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22169" y="1967015"/>
            <a:ext cx="26503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Rotaciones Cortas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5922169" y="2272410"/>
            <a:ext cx="265033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Compatible con políticas de seguridad modernas (ej. rotación cada </a:t>
            </a:r>
            <a:r>
              <a:rPr lang="en-US" sz="885" b="1" dirty="0">
                <a:solidFill>
                  <a:srgbClr val="111111"/>
                </a:solidFill>
              </a:rPr>
              <a:t>45 días</a:t>
            </a:r>
            <a:r>
              <a:rPr lang="en-US" sz="942" dirty="0">
                <a:solidFill>
                  <a:srgbClr val="333333"/>
                </a:solidFill>
              </a:rPr>
              <a:t>). Certificate Pinning haría esto imposible de gestionar.</a:t>
            </a:r>
            <a:endParaRPr lang="en-US" sz="942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8919" y="3329685"/>
            <a:ext cx="2650331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78919" y="3665441"/>
            <a:ext cx="26503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Control Operacional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2778919" y="3970837"/>
            <a:ext cx="265033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El backend puede cambiar certificados sin coordinar con todas las versiones de la app en el mercado. Desacopla el ciclo de vida de la app del ciclo de certificados.</a:t>
            </a:r>
            <a:endParaRPr lang="en-US" sz="942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2169" y="3329685"/>
            <a:ext cx="2650331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922169" y="3665441"/>
            <a:ext cx="26503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Menor Riesgo Auto-DoS</a:t>
            </a:r>
            <a:endParaRPr lang="en-US" sz="1193" dirty="0"/>
          </a:p>
        </p:txBody>
      </p:sp>
      <p:sp>
        <p:nvSpPr>
          <p:cNvPr id="20" name="Text 13"/>
          <p:cNvSpPr/>
          <p:nvPr/>
        </p:nvSpPr>
        <p:spPr>
          <a:xfrm>
            <a:off x="5922169" y="3970837"/>
            <a:ext cx="265033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Al usar múltiples pins (Activo + Backup), se evita bloquear la propia aplicación por errores en la renovación o expiración de certificados.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6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9668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9668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214313" y="285750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06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214313" y="4735916"/>
            <a:ext cx="1571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Principio Clave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571750" y="428625"/>
            <a:ext cx="600075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PinA y PinB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571750" y="940101"/>
            <a:ext cx="6000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Estrategia de Continuidad Operativa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728913" y="1538390"/>
            <a:ext cx="603089" cy="207169"/>
          </a:xfrm>
          <a:prstGeom prst="rect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2728913" y="1538390"/>
            <a:ext cx="603089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F5F5"/>
                </a:solidFill>
              </a:rPr>
              <a:t>Actual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2800350" y="1931296"/>
            <a:ext cx="24003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Pin Activo (A)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2800350" y="2350991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Es el pin que el servidor presenta hoy. La app lo valida y permite la conexión. Es la "llave" actual de la puerta.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5872163" y="1538390"/>
            <a:ext cx="623990" cy="20716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5872163" y="1538390"/>
            <a:ext cx="623990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F5F5"/>
                </a:solidFill>
              </a:rPr>
              <a:t>Futuro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943600" y="1931296"/>
            <a:ext cx="24003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Pin Respaldo (B)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5943600" y="2350991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Es el pin del </a:t>
            </a:r>
            <a:r>
              <a:rPr lang="en-US" sz="942" i="1" dirty="0">
                <a:solidFill>
                  <a:srgbClr val="333333"/>
                </a:solidFill>
              </a:rPr>
              <a:t>siguiente</a:t>
            </a:r>
            <a:r>
              <a:rPr lang="en-US" sz="942" dirty="0">
                <a:solidFill>
                  <a:srgbClr val="333333"/>
                </a:solidFill>
              </a:rPr>
              <a:t> certificado. La app ya lo conoce y confía en él, aunque el servidor aún no lo use.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2571750" y="3443985"/>
            <a:ext cx="6000750" cy="132407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2571750" y="3443985"/>
            <a:ext cx="71438" cy="1324077"/>
          </a:xfrm>
          <a:prstGeom prst="rect">
            <a:avLst/>
          </a:prstGeom>
          <a:solidFill>
            <a:srgbClr val="FF330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063" y="3678836"/>
            <a:ext cx="114300" cy="1143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971800" y="3658298"/>
            <a:ext cx="8310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Regla de Oro</a:t>
            </a:r>
            <a:endParaRPr lang="en-US" sz="784" dirty="0"/>
          </a:p>
        </p:txBody>
      </p:sp>
      <p:sp>
        <p:nvSpPr>
          <p:cNvPr id="21" name="Text 17"/>
          <p:cNvSpPr/>
          <p:nvPr/>
        </p:nvSpPr>
        <p:spPr>
          <a:xfrm>
            <a:off x="2786063" y="3885112"/>
            <a:ext cx="5572125" cy="66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Nunca lances una app con un solo pin. Sin PinB, cualquier rotación de emergencia o programada causará un Auto-DoS masivo.</a:t>
            </a:r>
            <a:endParaRPr lang="en-US" sz="119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214313" y="285750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07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214313" y="4682728"/>
            <a:ext cx="1571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Ciclo de Rotación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428875" y="285750"/>
            <a:ext cx="628650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Ciclo de Rotación Seguro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428875" y="797226"/>
            <a:ext cx="62865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Estrategia de Solape (A → B → C)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428875" y="1630896"/>
            <a:ext cx="2514600" cy="2500313"/>
          </a:xfrm>
          <a:prstGeom prst="rect">
            <a:avLst/>
          </a:prstGeom>
          <a:solidFill>
            <a:srgbClr val="FFFFFF"/>
          </a:solidFill>
          <a:ln w="18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313" y="2218944"/>
            <a:ext cx="2371725" cy="13241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8875" y="4202646"/>
            <a:ext cx="25146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FIG 07.1: CONTINUOUS ROTATION MODEL</a:t>
            </a:r>
            <a:endParaRPr lang="en-US" sz="621" dirty="0"/>
          </a:p>
        </p:txBody>
      </p:sp>
      <p:sp>
        <p:nvSpPr>
          <p:cNvPr id="12" name="Shape 8"/>
          <p:cNvSpPr/>
          <p:nvPr/>
        </p:nvSpPr>
        <p:spPr>
          <a:xfrm>
            <a:off x="2428875" y="4390169"/>
            <a:ext cx="2514600" cy="26967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/>
          <p:nvPr/>
        </p:nvSpPr>
        <p:spPr>
          <a:xfrm>
            <a:off x="2428875" y="4390169"/>
            <a:ext cx="2514600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dirty="0">
                <a:solidFill>
                  <a:srgbClr val="F5F5F5"/>
                </a:solidFill>
              </a:rPr>
              <a:t>OBJETIVO: 0% DOWNTIME</a:t>
            </a:r>
            <a:endParaRPr lang="en-US" sz="674" dirty="0"/>
          </a:p>
        </p:txBody>
      </p:sp>
      <p:sp>
        <p:nvSpPr>
          <p:cNvPr id="14" name="Shape 10"/>
          <p:cNvSpPr/>
          <p:nvPr/>
        </p:nvSpPr>
        <p:spPr>
          <a:xfrm>
            <a:off x="5200650" y="1468738"/>
            <a:ext cx="71438" cy="71438"/>
          </a:xfrm>
          <a:prstGeom prst="ellipse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1"/>
          <p:cNvSpPr/>
          <p:nvPr/>
        </p:nvSpPr>
        <p:spPr>
          <a:xfrm>
            <a:off x="5457825" y="1433020"/>
            <a:ext cx="3257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Fase 1 (T0) - Estado Inicial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5457825" y="1597326"/>
            <a:ext cx="32575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App distribuida con </a:t>
            </a:r>
            <a:r>
              <a:rPr lang="en-US" sz="784" b="1" dirty="0">
                <a:solidFill>
                  <a:srgbClr val="111111"/>
                </a:solidFill>
              </a:rPr>
              <a:t>{PinA, PinB}</a:t>
            </a:r>
            <a:r>
              <a:rPr lang="en-US" sz="834" dirty="0">
                <a:solidFill>
                  <a:srgbClr val="333333"/>
                </a:solidFill>
              </a:rPr>
              <a:t>.
 Backend utiliza certificado con </a:t>
            </a:r>
            <a:r>
              <a:rPr lang="en-US" sz="784" b="1" dirty="0">
                <a:solidFill>
                  <a:srgbClr val="111111"/>
                </a:solidFill>
              </a:rPr>
              <a:t>KeyA</a:t>
            </a:r>
            <a:r>
              <a:rPr lang="en-US" sz="834" dirty="0">
                <a:solidFill>
                  <a:srgbClr val="333333"/>
                </a:solidFill>
              </a:rPr>
              <a:t>.</a:t>
            </a:r>
            <a:endParaRPr lang="en-US" sz="834" dirty="0"/>
          </a:p>
        </p:txBody>
      </p:sp>
      <p:sp>
        <p:nvSpPr>
          <p:cNvPr id="17" name="Shape 13"/>
          <p:cNvSpPr/>
          <p:nvPr/>
        </p:nvSpPr>
        <p:spPr>
          <a:xfrm>
            <a:off x="5200650" y="2182750"/>
            <a:ext cx="71438" cy="71438"/>
          </a:xfrm>
          <a:prstGeom prst="ellipse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4"/>
          <p:cNvSpPr/>
          <p:nvPr/>
        </p:nvSpPr>
        <p:spPr>
          <a:xfrm>
            <a:off x="5457825" y="2147032"/>
            <a:ext cx="3257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Fase 2 (T1) - Preparación</a:t>
            </a:r>
            <a:endParaRPr lang="en-US" sz="683" dirty="0"/>
          </a:p>
        </p:txBody>
      </p:sp>
      <p:sp>
        <p:nvSpPr>
          <p:cNvPr id="19" name="Text 15"/>
          <p:cNvSpPr/>
          <p:nvPr/>
        </p:nvSpPr>
        <p:spPr>
          <a:xfrm>
            <a:off x="5457825" y="2311338"/>
            <a:ext cx="32575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Backend genera certificado con </a:t>
            </a:r>
            <a:r>
              <a:rPr lang="en-US" sz="784" b="1" dirty="0">
                <a:solidFill>
                  <a:srgbClr val="111111"/>
                </a:solidFill>
              </a:rPr>
              <a:t>KeyB</a:t>
            </a:r>
            <a:r>
              <a:rPr lang="en-US" sz="834" dirty="0">
                <a:solidFill>
                  <a:srgbClr val="333333"/>
                </a:solidFill>
              </a:rPr>
              <a:t>.
 App valida correctamente porque conoce PinB.</a:t>
            </a:r>
            <a:endParaRPr lang="en-US" sz="834" dirty="0"/>
          </a:p>
        </p:txBody>
      </p:sp>
      <p:sp>
        <p:nvSpPr>
          <p:cNvPr id="20" name="Shape 16"/>
          <p:cNvSpPr/>
          <p:nvPr/>
        </p:nvSpPr>
        <p:spPr>
          <a:xfrm>
            <a:off x="5200650" y="2896763"/>
            <a:ext cx="71438" cy="71438"/>
          </a:xfrm>
          <a:prstGeom prst="ellipse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7"/>
          <p:cNvSpPr/>
          <p:nvPr/>
        </p:nvSpPr>
        <p:spPr>
          <a:xfrm>
            <a:off x="5457825" y="2861044"/>
            <a:ext cx="3257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Fase 3 (T2) - Rotación</a:t>
            </a:r>
            <a:endParaRPr lang="en-US" sz="683" dirty="0"/>
          </a:p>
        </p:txBody>
      </p:sp>
      <p:sp>
        <p:nvSpPr>
          <p:cNvPr id="22" name="Text 18"/>
          <p:cNvSpPr/>
          <p:nvPr/>
        </p:nvSpPr>
        <p:spPr>
          <a:xfrm>
            <a:off x="5457825" y="3025350"/>
            <a:ext cx="32575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Backend cambia a certificado </a:t>
            </a:r>
            <a:r>
              <a:rPr lang="en-US" sz="784" b="1" dirty="0">
                <a:solidFill>
                  <a:srgbClr val="111111"/>
                </a:solidFill>
              </a:rPr>
              <a:t>KeyB</a:t>
            </a:r>
            <a:r>
              <a:rPr lang="en-US" sz="834" dirty="0">
                <a:solidFill>
                  <a:srgbClr val="333333"/>
                </a:solidFill>
              </a:rPr>
              <a:t>.
 Conexiones exitosas (PinB es válido).</a:t>
            </a:r>
            <a:endParaRPr lang="en-US" sz="834" dirty="0"/>
          </a:p>
        </p:txBody>
      </p:sp>
      <p:sp>
        <p:nvSpPr>
          <p:cNvPr id="23" name="Shape 19"/>
          <p:cNvSpPr/>
          <p:nvPr/>
        </p:nvSpPr>
        <p:spPr>
          <a:xfrm>
            <a:off x="5200650" y="3610775"/>
            <a:ext cx="71438" cy="71438"/>
          </a:xfrm>
          <a:prstGeom prst="ellipse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0"/>
          <p:cNvSpPr/>
          <p:nvPr/>
        </p:nvSpPr>
        <p:spPr>
          <a:xfrm>
            <a:off x="5457825" y="3575056"/>
            <a:ext cx="3257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Fase 4 (T3) - Actualización App</a:t>
            </a:r>
            <a:endParaRPr lang="en-US" sz="683" dirty="0"/>
          </a:p>
        </p:txBody>
      </p:sp>
      <p:sp>
        <p:nvSpPr>
          <p:cNvPr id="25" name="Text 21"/>
          <p:cNvSpPr/>
          <p:nvPr/>
        </p:nvSpPr>
        <p:spPr>
          <a:xfrm>
            <a:off x="5457825" y="3739362"/>
            <a:ext cx="32575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Nueva versión de App incluye </a:t>
            </a:r>
            <a:r>
              <a:rPr lang="en-US" sz="784" b="1" dirty="0">
                <a:solidFill>
                  <a:srgbClr val="111111"/>
                </a:solidFill>
              </a:rPr>
              <a:t>{PinB, PinC}</a:t>
            </a:r>
            <a:r>
              <a:rPr lang="en-US" sz="834" dirty="0">
                <a:solidFill>
                  <a:srgbClr val="333333"/>
                </a:solidFill>
              </a:rPr>
              <a:t>.
 PinC es el nuevo backup para el siguiente ciclo.</a:t>
            </a:r>
            <a:endParaRPr lang="en-US" sz="834" dirty="0"/>
          </a:p>
        </p:txBody>
      </p:sp>
      <p:sp>
        <p:nvSpPr>
          <p:cNvPr id="26" name="Shape 22"/>
          <p:cNvSpPr/>
          <p:nvPr/>
        </p:nvSpPr>
        <p:spPr>
          <a:xfrm>
            <a:off x="5200650" y="4324787"/>
            <a:ext cx="71438" cy="71438"/>
          </a:xfrm>
          <a:prstGeom prst="ellipse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3"/>
          <p:cNvSpPr/>
          <p:nvPr/>
        </p:nvSpPr>
        <p:spPr>
          <a:xfrm>
            <a:off x="5457825" y="4289068"/>
            <a:ext cx="3257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Fase 5 (T4) - Retiro</a:t>
            </a:r>
            <a:endParaRPr lang="en-US" sz="683" dirty="0"/>
          </a:p>
        </p:txBody>
      </p:sp>
      <p:sp>
        <p:nvSpPr>
          <p:cNvPr id="28" name="Text 24"/>
          <p:cNvSpPr/>
          <p:nvPr/>
        </p:nvSpPr>
        <p:spPr>
          <a:xfrm>
            <a:off x="5457825" y="4453375"/>
            <a:ext cx="32575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Se retira soporte para </a:t>
            </a:r>
            <a:r>
              <a:rPr lang="en-US" sz="784" b="1" dirty="0">
                <a:solidFill>
                  <a:srgbClr val="111111"/>
                </a:solidFill>
              </a:rPr>
              <a:t>PinA</a:t>
            </a:r>
            <a:r>
              <a:rPr lang="en-US" sz="834" dirty="0">
                <a:solidFill>
                  <a:srgbClr val="333333"/>
                </a:solidFill>
              </a:rPr>
              <a:t>.
 El ciclo se repite: B es activo, C es backup.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142875" y="285750"/>
            <a:ext cx="1714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08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142875" y="4825603"/>
            <a:ext cx="1714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Android NSC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428875" y="285750"/>
            <a:ext cx="6286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kern="0" spc="-1" dirty="0">
                <a:solidFill>
                  <a:srgbClr val="111111"/>
                </a:solidFill>
              </a:rPr>
              <a:t>Android: Enfoque Recomendado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2428875" y="734355"/>
            <a:ext cx="6286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4CC"/>
                </a:solidFill>
              </a:rPr>
              <a:t>Network Security Configuration (NSC)</a:t>
            </a:r>
            <a:endParaRPr lang="en-US" sz="987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75" y="1214772"/>
            <a:ext cx="96441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11041" y="1186197"/>
            <a:ext cx="287535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Declarativo (XML)</a:t>
            </a:r>
            <a:r>
              <a:rPr lang="en-US" sz="942" dirty="0">
                <a:solidFill>
                  <a:srgbClr val="111111"/>
                </a:solidFill>
              </a:rPr>
              <a:t>
Configuración separada del código, reduciendo errores de implementación.</a:t>
            </a:r>
            <a:endParaRPr lang="en-US" sz="88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875" y="1840548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43188" y="1811973"/>
            <a:ext cx="284321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Soporte Multi-Pin</a:t>
            </a:r>
            <a:r>
              <a:rPr lang="en-US" sz="942" dirty="0">
                <a:solidFill>
                  <a:srgbClr val="111111"/>
                </a:solidFill>
              </a:rPr>
              <a:t>
Nativo para definir PinA (Activo) y PinB (Backup).</a:t>
            </a:r>
            <a:endParaRPr lang="en-US" sz="885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8875" y="2466324"/>
            <a:ext cx="96441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11041" y="2437749"/>
            <a:ext cx="287535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Expiración de Pin-Set</a:t>
            </a:r>
            <a:r>
              <a:rPr lang="en-US" sz="942" dirty="0">
                <a:solidFill>
                  <a:srgbClr val="111111"/>
                </a:solidFill>
              </a:rPr>
              <a:t>
Fuerza la revisión periódica y evita bloqueos eternos.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2428875" y="3192112"/>
            <a:ext cx="3057525" cy="113150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0"/>
          <p:cNvSpPr/>
          <p:nvPr/>
        </p:nvSpPr>
        <p:spPr>
          <a:xfrm>
            <a:off x="2428875" y="3192112"/>
            <a:ext cx="42863" cy="1131503"/>
          </a:xfrm>
          <a:prstGeom prst="rect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1"/>
          <p:cNvSpPr/>
          <p:nvPr/>
        </p:nvSpPr>
        <p:spPr>
          <a:xfrm>
            <a:off x="3747176" y="3106387"/>
            <a:ext cx="1596349" cy="165729"/>
          </a:xfrm>
          <a:prstGeom prst="rect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2"/>
          <p:cNvSpPr/>
          <p:nvPr/>
        </p:nvSpPr>
        <p:spPr>
          <a:xfrm>
            <a:off x="3747176" y="3106387"/>
            <a:ext cx="1596349" cy="165729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network_security_config.xml</a:t>
            </a:r>
            <a:endParaRPr lang="en-US" sz="584" dirty="0"/>
          </a:p>
        </p:txBody>
      </p:sp>
      <p:sp>
        <p:nvSpPr>
          <p:cNvPr id="19" name="Text 13"/>
          <p:cNvSpPr/>
          <p:nvPr/>
        </p:nvSpPr>
        <p:spPr>
          <a:xfrm>
            <a:off x="2514600" y="3288553"/>
            <a:ext cx="25835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F5F5"/>
                </a:solidFill>
              </a:rPr>
              <a:t>&lt;domain-config&gt; &lt;domain includeSubdomains="true"&gt;</a:t>
            </a:r>
            <a:endParaRPr lang="en-US" sz="727" dirty="0"/>
          </a:p>
        </p:txBody>
      </p:sp>
      <p:sp>
        <p:nvSpPr>
          <p:cNvPr id="20" name="Text 14"/>
          <p:cNvSpPr/>
          <p:nvPr/>
        </p:nvSpPr>
        <p:spPr>
          <a:xfrm>
            <a:off x="2514600" y="3448562"/>
            <a:ext cx="26347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F5F5"/>
                </a:solidFill>
              </a:rPr>
              <a:t>api.banco.com &lt;/domain&gt; &lt;pin-set expiration="2026-12-</a:t>
            </a:r>
            <a:endParaRPr lang="en-US" sz="727" dirty="0"/>
          </a:p>
        </p:txBody>
      </p:sp>
      <p:sp>
        <p:nvSpPr>
          <p:cNvPr id="21" name="Text 15"/>
          <p:cNvSpPr/>
          <p:nvPr/>
        </p:nvSpPr>
        <p:spPr>
          <a:xfrm>
            <a:off x="2514600" y="3448562"/>
            <a:ext cx="2847175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F5F5"/>
                </a:solidFill>
              </a:rPr>
              <a:t>31"&gt; &lt;!-- Pin A: Activo --&gt; &lt;pin digest="SHA-</a:t>
            </a:r>
            <a:endParaRPr lang="en-US" sz="727" dirty="0"/>
          </a:p>
        </p:txBody>
      </p:sp>
      <p:sp>
        <p:nvSpPr>
          <p:cNvPr id="22" name="Text 16"/>
          <p:cNvSpPr/>
          <p:nvPr/>
        </p:nvSpPr>
        <p:spPr>
          <a:xfrm>
            <a:off x="2514600" y="3608570"/>
            <a:ext cx="2771580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F5F5"/>
                </a:solidFill>
              </a:rPr>
              <a:t>256"&gt;7HIpUjXmFqg...&lt;/pin&gt; &lt;!-- Pin B: Backup --&gt; &lt;pin</a:t>
            </a:r>
            <a:endParaRPr lang="en-US" sz="727" dirty="0"/>
          </a:p>
        </p:txBody>
      </p:sp>
      <p:sp>
        <p:nvSpPr>
          <p:cNvPr id="23" name="Text 17"/>
          <p:cNvSpPr/>
          <p:nvPr/>
        </p:nvSpPr>
        <p:spPr>
          <a:xfrm>
            <a:off x="2514600" y="3768579"/>
            <a:ext cx="2157385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F5F5"/>
                </a:solidFill>
              </a:rPr>
              <a:t>digest="SHA-256"&gt;9JKL0pQvTrs...&lt;/pin&gt; &lt;/pin-set&gt;</a:t>
            </a:r>
            <a:endParaRPr lang="en-US" sz="727" dirty="0"/>
          </a:p>
        </p:txBody>
      </p:sp>
      <p:sp>
        <p:nvSpPr>
          <p:cNvPr id="24" name="Text 18"/>
          <p:cNvSpPr/>
          <p:nvPr/>
        </p:nvSpPr>
        <p:spPr>
          <a:xfrm>
            <a:off x="4277041" y="3928588"/>
            <a:ext cx="8351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F5F5"/>
                </a:solidFill>
              </a:rPr>
              <a:t>&lt;/domain-config&gt;</a:t>
            </a:r>
            <a:endParaRPr lang="en-US" sz="727" dirty="0"/>
          </a:p>
        </p:txBody>
      </p:sp>
      <p:sp>
        <p:nvSpPr>
          <p:cNvPr id="25" name="Shape 19"/>
          <p:cNvSpPr/>
          <p:nvPr/>
        </p:nvSpPr>
        <p:spPr>
          <a:xfrm>
            <a:off x="5657850" y="1186197"/>
            <a:ext cx="3057525" cy="3814428"/>
          </a:xfrm>
          <a:prstGeom prst="rect">
            <a:avLst/>
          </a:prstGeom>
          <a:solidFill>
            <a:srgbClr val="FFFFFF"/>
          </a:solidFill>
          <a:ln w="18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1243347"/>
            <a:ext cx="2943225" cy="32929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15000" y="4622006"/>
            <a:ext cx="2943225" cy="321469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&gt; NOTA: Usar OkHttp CertificatePinner solo para casos avanzados (multi-stack).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214313" y="285750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09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214313" y="1057275"/>
            <a:ext cx="1571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iOS Approach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428875" y="285750"/>
            <a:ext cx="628650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iOS: Enfoque Recomendado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428875" y="797226"/>
            <a:ext cx="6286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Validación Explícita en URLSession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786063" y="1202634"/>
            <a:ext cx="3311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Interceptar Desafío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786063" y="1433020"/>
            <a:ext cx="331182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Implementar URLSessionDelegate para capturar el desafío de autenticación del servidor.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2786063" y="1838762"/>
            <a:ext cx="3311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Evaluar Trust Estándar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786063" y="2069148"/>
            <a:ext cx="331182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Validar la cadena de certificados normalmente usando las APIs del sistema. No inventar un trust alternativo.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2786063" y="2474891"/>
            <a:ext cx="3311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Extraer Public Key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2786063" y="2705277"/>
            <a:ext cx="331182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Obtener la clave pública del certificado leaf (o intermedio si aplica).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2786063" y="3111019"/>
            <a:ext cx="3311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Comparar SPKI Hash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2786063" y="3341405"/>
            <a:ext cx="331182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Calcular SHA-256 de la clave pública y comparar contra los pins permitidos (A y B).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786063" y="3747148"/>
            <a:ext cx="33118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Decisión Final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2786063" y="3977534"/>
            <a:ext cx="331182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Rechazar explícitamente la conexión si no hay coincidencia de pin.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6269338" y="1202634"/>
            <a:ext cx="2446037" cy="78759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Shape 22"/>
          <p:cNvSpPr/>
          <p:nvPr/>
        </p:nvSpPr>
        <p:spPr>
          <a:xfrm>
            <a:off x="6269338" y="1202634"/>
            <a:ext cx="42863" cy="787598"/>
          </a:xfrm>
          <a:prstGeom prst="rect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6397926" y="1331221"/>
            <a:ext cx="21888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API Recomendada (2026)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6397926" y="1518745"/>
            <a:ext cx="21888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00"/>
                </a:solidFill>
              </a:rPr>
              <a:t>SecTrustEvaluateWithError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6397926" y="1745559"/>
            <a:ext cx="21888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(Reemplaza al deprecado SecTrustEvaluate)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6269338" y="2118820"/>
            <a:ext cx="2446037" cy="1163315"/>
          </a:xfrm>
          <a:prstGeom prst="rect">
            <a:avLst/>
          </a:prstGeom>
          <a:solidFill>
            <a:srgbClr val="FFFFFF"/>
          </a:solidFill>
          <a:ln w="27432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351" y="2244728"/>
            <a:ext cx="142875" cy="14287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583663" y="2218832"/>
            <a:ext cx="11257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300"/>
                </a:solidFill>
              </a:rPr>
              <a:t>Punto Crítico</a:t>
            </a:r>
            <a:endParaRPr lang="en-US" sz="987" dirty="0"/>
          </a:p>
        </p:txBody>
      </p:sp>
      <p:sp>
        <p:nvSpPr>
          <p:cNvPr id="32" name="Text 28"/>
          <p:cNvSpPr/>
          <p:nvPr/>
        </p:nvSpPr>
        <p:spPr>
          <a:xfrm>
            <a:off x="6369351" y="2484937"/>
            <a:ext cx="2246012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No saltarse la validación de trust de Apple. El Pinning es una capa </a:t>
            </a:r>
            <a:r>
              <a:rPr lang="en-US" sz="784" b="1" dirty="0">
                <a:solidFill>
                  <a:srgbClr val="111111"/>
                </a:solidFill>
              </a:rPr>
              <a:t>adicional</a:t>
            </a:r>
            <a:r>
              <a:rPr lang="en-US" sz="834" dirty="0">
                <a:solidFill>
                  <a:srgbClr val="111111"/>
                </a:solidFill>
              </a:rPr>
              <a:t>, no un reemplazo de la validación CA estándar.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142875" y="285750"/>
            <a:ext cx="1714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10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142875" y="4682728"/>
            <a:ext cx="1714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Estrategia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286000" y="428625"/>
            <a:ext cx="657225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mTLS vs Pinning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286000" y="940101"/>
            <a:ext cx="6572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Dos Controles, Distintos Objetivos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300288" y="1502671"/>
            <a:ext cx="3150394" cy="34825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2443163" y="1559821"/>
            <a:ext cx="45228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mTLS</a:t>
            </a:r>
            <a:endParaRPr lang="en-US" sz="1193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219" y="1591075"/>
            <a:ext cx="128588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86013" y="1936654"/>
            <a:ext cx="29789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Definición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2386013" y="2108104"/>
            <a:ext cx="29789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Autenticación Mutua. El cliente presenta su propio certificado para probar su identidad.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2386013" y="2596725"/>
            <a:ext cx="29789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Pregunta Clave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2386013" y="2768175"/>
            <a:ext cx="29789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"¿Quién es el cliente?"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2386013" y="3076780"/>
            <a:ext cx="2978944" cy="403622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Uso Típico:</a:t>
            </a:r>
            <a:r>
              <a:rPr lang="en-US" sz="834" dirty="0">
                <a:solidFill>
                  <a:srgbClr val="333333"/>
                </a:solidFill>
              </a:rPr>
              <a:t> M2M, Backend-to-Backend, Servicios Internos.</a:t>
            </a:r>
            <a:endParaRPr lang="en-US" sz="784" dirty="0"/>
          </a:p>
        </p:txBody>
      </p:sp>
      <p:sp>
        <p:nvSpPr>
          <p:cNvPr id="17" name="Shape 13"/>
          <p:cNvSpPr/>
          <p:nvPr/>
        </p:nvSpPr>
        <p:spPr>
          <a:xfrm>
            <a:off x="5693569" y="1502671"/>
            <a:ext cx="3150394" cy="34825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4"/>
          <p:cNvSpPr/>
          <p:nvPr/>
        </p:nvSpPr>
        <p:spPr>
          <a:xfrm>
            <a:off x="5836444" y="1559821"/>
            <a:ext cx="78335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Pinning</a:t>
            </a:r>
            <a:endParaRPr lang="en-US" sz="1193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1591075"/>
            <a:ext cx="128588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779294" y="1936654"/>
            <a:ext cx="29789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Definición</a:t>
            </a:r>
            <a:endParaRPr lang="en-US" sz="683" dirty="0"/>
          </a:p>
        </p:txBody>
      </p:sp>
      <p:sp>
        <p:nvSpPr>
          <p:cNvPr id="21" name="Text 16"/>
          <p:cNvSpPr/>
          <p:nvPr/>
        </p:nvSpPr>
        <p:spPr>
          <a:xfrm>
            <a:off x="5779294" y="2108104"/>
            <a:ext cx="29789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Restricción de Identidad. El cliente valida que el servidor sea exactamente quien dice ser.</a:t>
            </a:r>
            <a:endParaRPr lang="en-US" sz="942" dirty="0"/>
          </a:p>
        </p:txBody>
      </p:sp>
      <p:sp>
        <p:nvSpPr>
          <p:cNvPr id="22" name="Text 17"/>
          <p:cNvSpPr/>
          <p:nvPr/>
        </p:nvSpPr>
        <p:spPr>
          <a:xfrm>
            <a:off x="5779294" y="2596725"/>
            <a:ext cx="29789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Pregunta Clave</a:t>
            </a:r>
            <a:endParaRPr lang="en-US" sz="683" dirty="0"/>
          </a:p>
        </p:txBody>
      </p:sp>
      <p:sp>
        <p:nvSpPr>
          <p:cNvPr id="23" name="Text 18"/>
          <p:cNvSpPr/>
          <p:nvPr/>
        </p:nvSpPr>
        <p:spPr>
          <a:xfrm>
            <a:off x="5779294" y="2768175"/>
            <a:ext cx="29789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"¿Es ESTE el servidor correcto?"</a:t>
            </a:r>
            <a:endParaRPr lang="en-US" sz="942" dirty="0"/>
          </a:p>
        </p:txBody>
      </p:sp>
      <p:sp>
        <p:nvSpPr>
          <p:cNvPr id="24" name="Text 19"/>
          <p:cNvSpPr/>
          <p:nvPr/>
        </p:nvSpPr>
        <p:spPr>
          <a:xfrm>
            <a:off x="5779294" y="3232156"/>
            <a:ext cx="2978944" cy="24824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Uso Típico:</a:t>
            </a:r>
            <a:r>
              <a:rPr lang="en-US" sz="834" dirty="0">
                <a:solidFill>
                  <a:srgbClr val="333333"/>
                </a:solidFill>
              </a:rPr>
              <a:t> Mobile Banking (Redes no confiables).</a:t>
            </a:r>
            <a:endParaRPr lang="en-US" sz="784" dirty="0"/>
          </a:p>
        </p:txBody>
      </p:sp>
      <p:sp>
        <p:nvSpPr>
          <p:cNvPr id="25" name="Shape 20"/>
          <p:cNvSpPr/>
          <p:nvPr/>
        </p:nvSpPr>
        <p:spPr>
          <a:xfrm>
            <a:off x="2286000" y="3809014"/>
            <a:ext cx="6572250" cy="73580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Shape 21"/>
          <p:cNvSpPr/>
          <p:nvPr/>
        </p:nvSpPr>
        <p:spPr>
          <a:xfrm>
            <a:off x="2286000" y="3809014"/>
            <a:ext cx="42863" cy="735806"/>
          </a:xfrm>
          <a:prstGeom prst="rect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2"/>
          <p:cNvSpPr/>
          <p:nvPr/>
        </p:nvSpPr>
        <p:spPr>
          <a:xfrm>
            <a:off x="2371725" y="3894739"/>
            <a:ext cx="64008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Arquitectura Bancaria Moderna</a:t>
            </a:r>
            <a:endParaRPr lang="en-US" sz="683" dirty="0"/>
          </a:p>
        </p:txBody>
      </p:sp>
      <p:sp>
        <p:nvSpPr>
          <p:cNvPr id="28" name="Text 23"/>
          <p:cNvSpPr/>
          <p:nvPr/>
        </p:nvSpPr>
        <p:spPr>
          <a:xfrm>
            <a:off x="2371725" y="4087620"/>
            <a:ext cx="6400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Combinar ambos eleva el costo del ataque: Pinning en la App Móvil + mTLS entre Backend y Servicios Internos.</a:t>
            </a:r>
            <a:endParaRPr lang="en-US" sz="98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171450" y="142875"/>
            <a:ext cx="16573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11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171450" y="942975"/>
            <a:ext cx="16573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Análisis de Riesgo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214563" y="285750"/>
            <a:ext cx="6715125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Reverse Engineering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214563" y="797226"/>
            <a:ext cx="6715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¿Es la extracción de pins un riesgo fatal?</a:t>
            </a:r>
            <a:endParaRPr lang="en-US" sz="119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006" y="1426769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78894" y="1395515"/>
            <a:ext cx="111942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La Realidad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2336006" y="1715198"/>
            <a:ext cx="304323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Un atacante con tiempo </a:t>
            </a:r>
            <a:r>
              <a:rPr lang="en-US" sz="885" b="1" dirty="0">
                <a:solidFill>
                  <a:srgbClr val="333333"/>
                </a:solidFill>
              </a:rPr>
              <a:t>SIEMPRE</a:t>
            </a:r>
            <a:r>
              <a:rPr lang="en-US" sz="942" dirty="0">
                <a:solidFill>
                  <a:srgbClr val="333333"/>
                </a:solidFill>
              </a:rPr>
              <a:t> puede extraer los pins (strings) del binario de la app mediante ingeniería inversa. Es imposible ocultarlos totalmente.</a:t>
            </a:r>
            <a:endParaRPr lang="en-US" sz="942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006" y="1426769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07894" y="1395515"/>
            <a:ext cx="199260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Por qué NO es Bypass</a:t>
            </a:r>
            <a:endParaRPr lang="en-US" sz="1193" dirty="0"/>
          </a:p>
        </p:txBody>
      </p:sp>
      <p:sp>
        <p:nvSpPr>
          <p:cNvPr id="14" name="Shape 9"/>
          <p:cNvSpPr/>
          <p:nvPr/>
        </p:nvSpPr>
        <p:spPr>
          <a:xfrm>
            <a:off x="5765006" y="1786635"/>
            <a:ext cx="3043238" cy="48398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0"/>
          <p:cNvSpPr/>
          <p:nvPr/>
        </p:nvSpPr>
        <p:spPr>
          <a:xfrm>
            <a:off x="6012135" y="1941119"/>
            <a:ext cx="8666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Conocer el Pin</a:t>
            </a:r>
            <a:endParaRPr lang="en-US" sz="942" dirty="0"/>
          </a:p>
        </p:txBody>
      </p:sp>
      <p:sp>
        <p:nvSpPr>
          <p:cNvPr id="16" name="Text 11"/>
          <p:cNvSpPr/>
          <p:nvPr/>
        </p:nvSpPr>
        <p:spPr>
          <a:xfrm>
            <a:off x="6993117" y="1872360"/>
            <a:ext cx="13076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00"/>
                </a:solidFill>
              </a:rPr>
              <a:t>≠</a:t>
            </a:r>
            <a:endParaRPr lang="en-US" sz="1602" dirty="0"/>
          </a:p>
        </p:txBody>
      </p:sp>
      <p:sp>
        <p:nvSpPr>
          <p:cNvPr id="17" name="Text 12"/>
          <p:cNvSpPr/>
          <p:nvPr/>
        </p:nvSpPr>
        <p:spPr>
          <a:xfrm>
            <a:off x="7238181" y="1941119"/>
            <a:ext cx="13229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Tener la Clave Privada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5765006" y="2342062"/>
            <a:ext cx="30432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Para ejecutar un MITM, el atacante necesita la </a:t>
            </a:r>
            <a:r>
              <a:rPr lang="en-US" sz="885" b="1" dirty="0">
                <a:solidFill>
                  <a:srgbClr val="333333"/>
                </a:solidFill>
              </a:rPr>
              <a:t>Clave Privada</a:t>
            </a:r>
            <a:r>
              <a:rPr lang="en-US" sz="942" dirty="0">
                <a:solidFill>
                  <a:srgbClr val="333333"/>
                </a:solidFill>
              </a:rPr>
              <a:t> del servidor para completar el handshake TLS. El pin es solo la llave pública.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2214563" y="3270749"/>
            <a:ext cx="67151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3300"/>
                </a:solidFill>
              </a:rPr>
              <a:t>El Verdadero Vector de Ataque (Runtime)</a:t>
            </a:r>
            <a:endParaRPr lang="en-US" sz="784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563" y="3622579"/>
            <a:ext cx="128588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28875" y="3511851"/>
            <a:ext cx="150069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Hooking (Frida)</a:t>
            </a:r>
            <a:r>
              <a:rPr lang="en-US" sz="942" dirty="0">
                <a:solidFill>
                  <a:srgbClr val="111111"/>
                </a:solidFill>
              </a:rPr>
              <a:t>
</a:t>
            </a:r>
            <a:r>
              <a:rPr lang="en-US" sz="727" dirty="0">
                <a:solidFill>
                  <a:srgbClr val="666666"/>
                </a:solidFill>
              </a:rPr>
              <a:t>Saltar la validación en memoria.</a:t>
            </a:r>
            <a:endParaRPr lang="en-US" sz="885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7844" y="3622579"/>
            <a:ext cx="112514" cy="128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06083" y="3511851"/>
            <a:ext cx="1976447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Binary Patching</a:t>
            </a:r>
            <a:r>
              <a:rPr lang="en-US" sz="942" dirty="0">
                <a:solidFill>
                  <a:srgbClr val="111111"/>
                </a:solidFill>
              </a:rPr>
              <a:t>
</a:t>
            </a:r>
            <a:r>
              <a:rPr lang="en-US" sz="727" dirty="0">
                <a:solidFill>
                  <a:srgbClr val="666666"/>
                </a:solidFill>
              </a:rPr>
              <a:t>Modificar el código para eliminar el check.</a:t>
            </a:r>
            <a:endParaRPr lang="en-US" sz="885" dirty="0"/>
          </a:p>
        </p:txBody>
      </p:sp>
      <p:sp>
        <p:nvSpPr>
          <p:cNvPr id="24" name="Shape 17"/>
          <p:cNvSpPr/>
          <p:nvPr/>
        </p:nvSpPr>
        <p:spPr>
          <a:xfrm>
            <a:off x="2214563" y="3969051"/>
            <a:ext cx="6715125" cy="41433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Shape 18"/>
          <p:cNvSpPr/>
          <p:nvPr/>
        </p:nvSpPr>
        <p:spPr>
          <a:xfrm>
            <a:off x="2214563" y="3969051"/>
            <a:ext cx="42863" cy="414338"/>
          </a:xfrm>
          <a:prstGeom prst="rect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19"/>
          <p:cNvSpPr/>
          <p:nvPr/>
        </p:nvSpPr>
        <p:spPr>
          <a:xfrm>
            <a:off x="2214563" y="3969051"/>
            <a:ext cx="6715125" cy="41433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11111"/>
                </a:solidFill>
              </a:rPr>
              <a:t>&gt; CONCLUSIÓN: Pinning no es infalible, pero eleva masivamente el costo del ataque. Se debe complementar con Root Detection y Anti-Tampering.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214313" y="285750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12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214313" y="4682728"/>
            <a:ext cx="1571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Defense in Depth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428875" y="285750"/>
            <a:ext cx="628650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Defense in Depth Realista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428875" y="797226"/>
            <a:ext cx="6286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Capas de Seguridad Obligatorias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428875" y="1416946"/>
            <a:ext cx="2828925" cy="2857500"/>
          </a:xfrm>
          <a:prstGeom prst="rect">
            <a:avLst/>
          </a:prstGeom>
          <a:solidFill>
            <a:srgbClr val="FFFFFF"/>
          </a:solidFill>
          <a:ln w="18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313" y="2095853"/>
            <a:ext cx="2686050" cy="14996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43550" y="1533925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01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5865019" y="1488384"/>
            <a:ext cx="28503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TLS 1.3 Encryption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5865019" y="1677693"/>
            <a:ext cx="2850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Cifrado de transporte base.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5543550" y="2152110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02</a:t>
            </a:r>
            <a:endParaRPr lang="en-US" sz="1193" dirty="0"/>
          </a:p>
        </p:txBody>
      </p:sp>
      <p:sp>
        <p:nvSpPr>
          <p:cNvPr id="15" name="Text 11"/>
          <p:cNvSpPr/>
          <p:nvPr/>
        </p:nvSpPr>
        <p:spPr>
          <a:xfrm>
            <a:off x="5865019" y="2106569"/>
            <a:ext cx="28503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4CC"/>
                </a:solidFill>
              </a:rPr>
              <a:t>SPKI Pinning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5865019" y="2295878"/>
            <a:ext cx="2850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Restricción de identidad del servidor.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5543550" y="2770296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03</a:t>
            </a:r>
            <a:endParaRPr lang="en-US" sz="1193" dirty="0"/>
          </a:p>
        </p:txBody>
      </p:sp>
      <p:sp>
        <p:nvSpPr>
          <p:cNvPr id="18" name="Text 14"/>
          <p:cNvSpPr/>
          <p:nvPr/>
        </p:nvSpPr>
        <p:spPr>
          <a:xfrm>
            <a:off x="5865019" y="2724755"/>
            <a:ext cx="28503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Root / Jailbreak Detection</a:t>
            </a:r>
            <a:endParaRPr lang="en-US" sz="885" dirty="0"/>
          </a:p>
        </p:txBody>
      </p:sp>
      <p:sp>
        <p:nvSpPr>
          <p:cNvPr id="19" name="Text 15"/>
          <p:cNvSpPr/>
          <p:nvPr/>
        </p:nvSpPr>
        <p:spPr>
          <a:xfrm>
            <a:off x="5865019" y="2914064"/>
            <a:ext cx="2850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Detección de entorno comprometido (Risk-based).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5543550" y="3388482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04</a:t>
            </a:r>
            <a:endParaRPr lang="en-US" sz="1193" dirty="0"/>
          </a:p>
        </p:txBody>
      </p:sp>
      <p:sp>
        <p:nvSpPr>
          <p:cNvPr id="21" name="Text 17"/>
          <p:cNvSpPr/>
          <p:nvPr/>
        </p:nvSpPr>
        <p:spPr>
          <a:xfrm>
            <a:off x="5865019" y="3342940"/>
            <a:ext cx="28503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Hooking Detection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5865019" y="3532250"/>
            <a:ext cx="2850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Anti-Frida, ptrace, librerías inyectadas.</a:t>
            </a:r>
            <a:endParaRPr lang="en-US" sz="727" dirty="0"/>
          </a:p>
        </p:txBody>
      </p:sp>
      <p:sp>
        <p:nvSpPr>
          <p:cNvPr id="23" name="Text 19"/>
          <p:cNvSpPr/>
          <p:nvPr/>
        </p:nvSpPr>
        <p:spPr>
          <a:xfrm>
            <a:off x="5543550" y="4006667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05</a:t>
            </a:r>
            <a:endParaRPr lang="en-US" sz="1193" dirty="0"/>
          </a:p>
        </p:txBody>
      </p:sp>
      <p:sp>
        <p:nvSpPr>
          <p:cNvPr id="24" name="Text 20"/>
          <p:cNvSpPr/>
          <p:nvPr/>
        </p:nvSpPr>
        <p:spPr>
          <a:xfrm>
            <a:off x="5865019" y="3961126"/>
            <a:ext cx="28503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App Attestation</a:t>
            </a:r>
            <a:endParaRPr lang="en-US" sz="885" dirty="0"/>
          </a:p>
        </p:txBody>
      </p:sp>
      <p:sp>
        <p:nvSpPr>
          <p:cNvPr id="25" name="Text 21"/>
          <p:cNvSpPr/>
          <p:nvPr/>
        </p:nvSpPr>
        <p:spPr>
          <a:xfrm>
            <a:off x="5865019" y="4150435"/>
            <a:ext cx="2850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Play Integrity / App Attest validado server-side.</a:t>
            </a:r>
            <a:endParaRPr lang="en-US" sz="727" dirty="0"/>
          </a:p>
        </p:txBody>
      </p:sp>
      <p:sp>
        <p:nvSpPr>
          <p:cNvPr id="26" name="Shape 22"/>
          <p:cNvSpPr/>
          <p:nvPr/>
        </p:nvSpPr>
        <p:spPr>
          <a:xfrm>
            <a:off x="2428875" y="4507706"/>
            <a:ext cx="6286500" cy="35004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Shape 23"/>
          <p:cNvSpPr/>
          <p:nvPr/>
        </p:nvSpPr>
        <p:spPr>
          <a:xfrm>
            <a:off x="2428875" y="4507706"/>
            <a:ext cx="42863" cy="350044"/>
          </a:xfrm>
          <a:prstGeom prst="rect">
            <a:avLst/>
          </a:prstGeom>
          <a:solidFill>
            <a:srgbClr val="FF330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4"/>
          <p:cNvSpPr/>
          <p:nvPr/>
        </p:nvSpPr>
        <p:spPr>
          <a:xfrm>
            <a:off x="2428875" y="4507706"/>
            <a:ext cx="6286500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5F5F5"/>
                </a:solidFill>
              </a:rPr>
              <a:t>&gt; CONCLUSIÓN: Pinning es necesario pero no suficiente. La seguridad móvil es Arquitectura + Operación.</a:t>
            </a:r>
            <a:endParaRPr lang="en-US" sz="72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214313" y="285750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13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214313" y="4682728"/>
            <a:ext cx="1571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Common Errors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428875" y="285750"/>
            <a:ext cx="628650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Errores Críticos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428875" y="797226"/>
            <a:ext cx="6286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3300"/>
                </a:solidFill>
              </a:rPr>
              <a:t>Anti-Patrones que Rompen Proyectos</a:t>
            </a:r>
            <a:endParaRPr lang="en-US" sz="119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325" y="1442842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14638" y="1416946"/>
            <a:ext cx="118530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300"/>
                </a:solidFill>
              </a:rPr>
              <a:t>01. Un Solo Pin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2600325" y="1647332"/>
            <a:ext cx="28646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Cualquier error en la rotación o compromiso de clave deja la app inoperativa (Auto-DoS).</a:t>
            </a:r>
            <a:endParaRPr lang="en-US" sz="834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325" y="2042359"/>
            <a:ext cx="100013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57488" y="2024500"/>
            <a:ext cx="22539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SOLUCIÓN: Siempre 2+ Pins (Activo + Backup)</a:t>
            </a:r>
            <a:endParaRPr lang="en-US" sz="683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2364721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814638" y="2338825"/>
            <a:ext cx="18706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300"/>
                </a:solidFill>
              </a:rPr>
              <a:t>02. Pinning al Leaf Cert</a:t>
            </a:r>
            <a:endParaRPr lang="en-US" sz="987" dirty="0"/>
          </a:p>
        </p:txBody>
      </p:sp>
      <p:sp>
        <p:nvSpPr>
          <p:cNvPr id="16" name="Text 10"/>
          <p:cNvSpPr/>
          <p:nvPr/>
        </p:nvSpPr>
        <p:spPr>
          <a:xfrm>
            <a:off x="2600325" y="2569211"/>
            <a:ext cx="28646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Cada renovación anual (o trimestral) del certificado rompe las versiones antiguas de la app.</a:t>
            </a:r>
            <a:endParaRPr lang="en-US" sz="834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325" y="2964238"/>
            <a:ext cx="100013" cy="1000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757488" y="2946378"/>
            <a:ext cx="19508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SOLUCIÓN: SPKI Pinning (Key Rotation)</a:t>
            </a:r>
            <a:endParaRPr lang="en-US" sz="683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3286599"/>
            <a:ext cx="142875" cy="1428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814638" y="3260703"/>
            <a:ext cx="16359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300"/>
                </a:solidFill>
              </a:rPr>
              <a:t>03. Ignorar CDN/WAF</a:t>
            </a:r>
            <a:endParaRPr lang="en-US" sz="987" dirty="0"/>
          </a:p>
        </p:txBody>
      </p:sp>
      <p:sp>
        <p:nvSpPr>
          <p:cNvPr id="21" name="Text 13"/>
          <p:cNvSpPr/>
          <p:nvPr/>
        </p:nvSpPr>
        <p:spPr>
          <a:xfrm>
            <a:off x="2600325" y="3491089"/>
            <a:ext cx="28646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Si el certificado lo gestiona Cloudflare/Akamai, puede cambiar sin aviso y romper el pinning.</a:t>
            </a:r>
            <a:endParaRPr lang="en-US" sz="834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325" y="3886116"/>
            <a:ext cx="100013" cy="10001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757488" y="3868257"/>
            <a:ext cx="27019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SOLUCIÓN: Pinear en el punto de terminación TLS real</a:t>
            </a:r>
            <a:endParaRPr lang="en-US" sz="683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731" y="1442842"/>
            <a:ext cx="142875" cy="14287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065044" y="1416946"/>
            <a:ext cx="210799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300"/>
                </a:solidFill>
              </a:rPr>
              <a:t>04. Sin Plan de Emergencia</a:t>
            </a:r>
            <a:endParaRPr lang="en-US" sz="987" dirty="0"/>
          </a:p>
        </p:txBody>
      </p:sp>
      <p:sp>
        <p:nvSpPr>
          <p:cNvPr id="26" name="Text 16"/>
          <p:cNvSpPr/>
          <p:nvPr/>
        </p:nvSpPr>
        <p:spPr>
          <a:xfrm>
            <a:off x="5850731" y="1647332"/>
            <a:ext cx="286464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Si una clave se compromete y no hay PinB pre-cargado, no hay forma segura de recuperar el control.</a:t>
            </a:r>
            <a:endParaRPr lang="en-US" sz="834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0731" y="2202368"/>
            <a:ext cx="100013" cy="10001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007894" y="2184509"/>
            <a:ext cx="22594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SOLUCIÓN: Runbook de Incidente + PinB listo</a:t>
            </a:r>
            <a:endParaRPr lang="en-US" sz="683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0731" y="2524730"/>
            <a:ext cx="142875" cy="142875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065044" y="2498834"/>
            <a:ext cx="16046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300"/>
                </a:solidFill>
              </a:rPr>
              <a:t>05. Solo Ofuscación</a:t>
            </a:r>
            <a:endParaRPr lang="en-US" sz="987" dirty="0"/>
          </a:p>
        </p:txBody>
      </p:sp>
      <p:sp>
        <p:nvSpPr>
          <p:cNvPr id="31" name="Text 19"/>
          <p:cNvSpPr/>
          <p:nvPr/>
        </p:nvSpPr>
        <p:spPr>
          <a:xfrm>
            <a:off x="5850731" y="2729219"/>
            <a:ext cx="28646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Confiar únicamente en ocultar los strings de los pins es seguridad por oscuridad, fácilmente bypassable.</a:t>
            </a:r>
            <a:endParaRPr lang="en-US" sz="834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0731" y="3124247"/>
            <a:ext cx="100013" cy="100013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007894" y="3106387"/>
            <a:ext cx="24733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SOLUCIÓN: Defense in Depth (Hooking Detection)</a:t>
            </a:r>
            <a:endParaRPr lang="en-US" sz="683" dirty="0"/>
          </a:p>
        </p:txBody>
      </p:sp>
      <p:sp>
        <p:nvSpPr>
          <p:cNvPr id="34" name="Shape 21"/>
          <p:cNvSpPr/>
          <p:nvPr/>
        </p:nvSpPr>
        <p:spPr>
          <a:xfrm>
            <a:off x="5679281" y="3513386"/>
            <a:ext cx="3036094" cy="1344364"/>
          </a:xfrm>
          <a:prstGeom prst="rect">
            <a:avLst/>
          </a:prstGeom>
          <a:solidFill>
            <a:srgbClr val="111111"/>
          </a:solidFill>
          <a:ln w="18288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2156" y="3702695"/>
            <a:ext cx="100013" cy="100013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922169" y="3684836"/>
            <a:ext cx="11013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3300"/>
                </a:solidFill>
              </a:rPr>
              <a:t>Impacto de Negocio</a:t>
            </a:r>
            <a:endParaRPr lang="en-US" sz="727" dirty="0"/>
          </a:p>
        </p:txBody>
      </p:sp>
      <p:sp>
        <p:nvSpPr>
          <p:cNvPr id="37" name="Text 23"/>
          <p:cNvSpPr/>
          <p:nvPr/>
        </p:nvSpPr>
        <p:spPr>
          <a:xfrm>
            <a:off x="5822156" y="3892004"/>
            <a:ext cx="275034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Un error de pinning no es un "bug menor". Es una caída total del servicio (Auto-DoS) o una vulnerabilidad crítica.</a:t>
            </a:r>
            <a:endParaRPr lang="en-US" sz="119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971675" y="0"/>
            <a:ext cx="28575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214313" y="285750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14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214313" y="4682728"/>
            <a:ext cx="1571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Lab Demo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428875" y="285750"/>
            <a:ext cx="628650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Lab Demostrativo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2428875" y="797226"/>
            <a:ext cx="6286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Validación Práctica (VS Code + OpenSSL + Node.js)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428875" y="1416946"/>
            <a:ext cx="3600450" cy="2857500"/>
          </a:xfrm>
          <a:prstGeom prst="rect">
            <a:avLst/>
          </a:prstGeom>
          <a:solidFill>
            <a:srgbClr val="FFFFFF"/>
          </a:solidFill>
          <a:ln w="18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313" y="1880453"/>
            <a:ext cx="3457575" cy="19304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50806" y="1416946"/>
            <a:ext cx="22645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4CC"/>
                </a:solidFill>
              </a:rPr>
              <a:t>Escenario 1: Éxito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6450806" y="1647332"/>
            <a:ext cx="22645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Cliente conecta a Servidor (Cert A) usando Pin A válido. Handshake completado.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6450806" y="2110225"/>
            <a:ext cx="22645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4CC"/>
                </a:solidFill>
              </a:rPr>
              <a:t>Escenario 2: Rotación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6450806" y="2340611"/>
            <a:ext cx="22645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Servidor rota a Cert B. Cliente con {PinA, PinB} sigue conectando sin interrupción.</a:t>
            </a:r>
            <a:endParaRPr lang="en-US" sz="834" dirty="0"/>
          </a:p>
        </p:txBody>
      </p:sp>
      <p:sp>
        <p:nvSpPr>
          <p:cNvPr id="15" name="Text 11"/>
          <p:cNvSpPr/>
          <p:nvPr/>
        </p:nvSpPr>
        <p:spPr>
          <a:xfrm>
            <a:off x="6450806" y="2803503"/>
            <a:ext cx="22645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3300"/>
                </a:solidFill>
              </a:rPr>
              <a:t>Escenario 3: MITM</a:t>
            </a:r>
            <a:endParaRPr lang="en-US" sz="987" dirty="0"/>
          </a:p>
        </p:txBody>
      </p:sp>
      <p:sp>
        <p:nvSpPr>
          <p:cNvPr id="16" name="Text 12"/>
          <p:cNvSpPr/>
          <p:nvPr/>
        </p:nvSpPr>
        <p:spPr>
          <a:xfrm>
            <a:off x="6450806" y="3033889"/>
            <a:ext cx="22645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Servidor presenta Cert C (válido por CA pero no pineado). Cliente rechaza conexión.</a:t>
            </a:r>
            <a:endParaRPr lang="en-US" sz="834" dirty="0"/>
          </a:p>
        </p:txBody>
      </p:sp>
      <p:sp>
        <p:nvSpPr>
          <p:cNvPr id="17" name="Shape 13"/>
          <p:cNvSpPr/>
          <p:nvPr/>
        </p:nvSpPr>
        <p:spPr>
          <a:xfrm>
            <a:off x="6315075" y="3884805"/>
            <a:ext cx="2400300" cy="97294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4"/>
          <p:cNvSpPr/>
          <p:nvPr/>
        </p:nvSpPr>
        <p:spPr>
          <a:xfrm>
            <a:off x="6457950" y="4027680"/>
            <a:ext cx="2114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44CC"/>
                </a:solidFill>
              </a:rPr>
              <a:t>Stack Tecnológico</a:t>
            </a:r>
            <a:endParaRPr lang="en-US" sz="683" dirty="0"/>
          </a:p>
        </p:txBody>
      </p:sp>
      <p:sp>
        <p:nvSpPr>
          <p:cNvPr id="19" name="Text 15"/>
          <p:cNvSpPr/>
          <p:nvPr/>
        </p:nvSpPr>
        <p:spPr>
          <a:xfrm>
            <a:off x="6457950" y="4234848"/>
            <a:ext cx="21145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F5F5"/>
                </a:solidFill>
              </a:rPr>
              <a:t>&gt; OpenSSL (CA Local + 3 Certs)
 &gt; Node.js HTTPS Server (Rotation)
 &gt; Node.js Client (Manual SPKI Check)</a:t>
            </a:r>
            <a:endParaRPr lang="en-US" sz="72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738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120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"&gt;</a:t>
            </a:r>
            <a:endParaRPr lang="en-US" sz="834" dirty="0"/>
          </a:p>
        </p:txBody>
      </p:sp>
      <p:sp>
        <p:nvSpPr>
          <p:cNvPr id="4" name="Shape 1"/>
          <p:cNvSpPr/>
          <p:nvPr/>
        </p:nvSpPr>
        <p:spPr>
          <a:xfrm>
            <a:off x="0" y="155377"/>
            <a:ext cx="2000250" cy="541850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1971675" y="155377"/>
            <a:ext cx="28575" cy="541850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214313" y="441127"/>
            <a:ext cx="157162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kern="0" spc="-4" dirty="0">
                <a:solidFill>
                  <a:srgbClr val="F5F5F5"/>
                </a:solidFill>
              </a:rPr>
              <a:t>15</a:t>
            </a:r>
            <a:endParaRPr lang="en-US" sz="6218" dirty="0"/>
          </a:p>
        </p:txBody>
      </p:sp>
      <p:sp>
        <p:nvSpPr>
          <p:cNvPr id="7" name="Text 4"/>
          <p:cNvSpPr/>
          <p:nvPr/>
        </p:nvSpPr>
        <p:spPr>
          <a:xfrm>
            <a:off x="214313" y="5341711"/>
            <a:ext cx="1571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kern="0" spc="2" dirty="0">
                <a:solidFill>
                  <a:srgbClr val="F5F5F5">
                    <a:alpha val="80000"/>
                  </a:srgbClr>
                </a:solidFill>
              </a:rPr>
              <a:t>Final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2571750" y="584002"/>
            <a:ext cx="600075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Conclusión Ejecutiva</a:t>
            </a:r>
            <a:endParaRPr lang="en-US" sz="2862" dirty="0"/>
          </a:p>
        </p:txBody>
      </p:sp>
      <p:sp>
        <p:nvSpPr>
          <p:cNvPr id="9" name="Text 6"/>
          <p:cNvSpPr/>
          <p:nvPr/>
        </p:nvSpPr>
        <p:spPr>
          <a:xfrm>
            <a:off x="2571750" y="1095477"/>
            <a:ext cx="6000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44CC"/>
                </a:solidFill>
              </a:rPr>
              <a:t>Hoja de Ruta para Implementación Segura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571750" y="1643760"/>
            <a:ext cx="500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11111">
                    <a:alpha val="20000"/>
                  </a:srgbClr>
                </a:solidFill>
              </a:rPr>
              <a:t>01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3214688" y="1643760"/>
            <a:ext cx="2250281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Estándar Obligatorio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3214688" y="2261695"/>
            <a:ext cx="2250281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En el sector financiero, confiar ciegamente en las CAs del sistema operativo es un riesgo inaceptable. El pinning es la línea base de seguridad.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679281" y="1643760"/>
            <a:ext cx="500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11111">
                    <a:alpha val="20000"/>
                  </a:srgbClr>
                </a:solidFill>
              </a:rPr>
              <a:t>02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6322219" y="1643760"/>
            <a:ext cx="22502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Operación &gt; Código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6322219" y="1988446"/>
            <a:ext cx="225028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El éxito no está en escribir el código de validación, sino en la estrategia de rotación. Sin </a:t>
            </a:r>
            <a:r>
              <a:rPr lang="en-US" sz="885" b="1" dirty="0">
                <a:solidFill>
                  <a:srgbClr val="333333"/>
                </a:solidFill>
              </a:rPr>
              <a:t>Pin Backup</a:t>
            </a:r>
            <a:r>
              <a:rPr lang="en-US" sz="942" dirty="0">
                <a:solidFill>
                  <a:srgbClr val="333333"/>
                </a:solidFill>
              </a:rPr>
              <a:t>, el proyecto fracasará.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571750" y="3368976"/>
            <a:ext cx="5000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11111">
                    <a:alpha val="20000"/>
                  </a:srgbClr>
                </a:solidFill>
              </a:rPr>
              <a:t>03</a:t>
            </a:r>
            <a:endParaRPr lang="en-US" sz="2436" dirty="0"/>
          </a:p>
        </p:txBody>
      </p:sp>
      <p:sp>
        <p:nvSpPr>
          <p:cNvPr id="17" name="Text 14"/>
          <p:cNvSpPr/>
          <p:nvPr/>
        </p:nvSpPr>
        <p:spPr>
          <a:xfrm>
            <a:off x="3214688" y="3368976"/>
            <a:ext cx="50006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Estabilidad SPKI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3214688" y="3713662"/>
            <a:ext cx="5000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Pinear la clave pública (SPKI) en lugar del certificado completo desacopla la seguridad de la burocracia de renovación anual.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2571750" y="4242299"/>
            <a:ext cx="6000750" cy="90295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2571750" y="4242299"/>
            <a:ext cx="71438" cy="902959"/>
          </a:xfrm>
          <a:prstGeom prst="rect">
            <a:avLst/>
          </a:prstGeom>
          <a:solidFill>
            <a:srgbClr val="0044C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25" y="4554475"/>
            <a:ext cx="285750" cy="2857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143250" y="4385174"/>
            <a:ext cx="5286375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Próximo Paso: Auditar la configuración actual y asegurar la presencia de PinB en producción.</a:t>
            </a:r>
            <a:endParaRPr lang="en-US" sz="1193" dirty="0"/>
          </a:p>
        </p:txBody>
      </p:sp>
      <p:sp>
        <p:nvSpPr>
          <p:cNvPr id="23" name="Text 19"/>
          <p:cNvSpPr/>
          <p:nvPr/>
        </p:nvSpPr>
        <p:spPr>
          <a:xfrm>
            <a:off x="3143250" y="4866652"/>
            <a:ext cx="5286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Evitar el Auto-DoS es la prioridad #1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1748</Words>
  <Application>Microsoft Office PowerPoint</Application>
  <PresentationFormat>Presentación en pantalla (16:9)</PresentationFormat>
  <Paragraphs>244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>Patricio Canelo Estay</Manager>
  <Company>Banco Estado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Certifcate Pinning PCE</dc:title>
  <dc:subject>Presentation Certifcate Pinning PCE</dc:subject>
  <dc:creator>Patricio Canelo</dc:creator>
  <cp:keywords>Patricio Canelo </cp:keywords>
  <cp:lastModifiedBy>Patricio Canelo Estay</cp:lastModifiedBy>
  <cp:revision>3</cp:revision>
  <dcterms:created xsi:type="dcterms:W3CDTF">2026-01-26T21:42:57Z</dcterms:created>
  <dcterms:modified xsi:type="dcterms:W3CDTF">2026-01-26T21:57:36Z</dcterms:modified>
  <cp:category>Seguridad App </cp:category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a05ac2-419e-4c0f-b1af-15172be547c3_Enabled">
    <vt:lpwstr>true</vt:lpwstr>
  </property>
  <property fmtid="{D5CDD505-2E9C-101B-9397-08002B2CF9AE}" pid="3" name="MSIP_Label_1fa05ac2-419e-4c0f-b1af-15172be547c3_SetDate">
    <vt:lpwstr>2026-01-26T21:56:08Z</vt:lpwstr>
  </property>
  <property fmtid="{D5CDD505-2E9C-101B-9397-08002B2CF9AE}" pid="4" name="MSIP_Label_1fa05ac2-419e-4c0f-b1af-15172be547c3_Method">
    <vt:lpwstr>Standard</vt:lpwstr>
  </property>
  <property fmtid="{D5CDD505-2E9C-101B-9397-08002B2CF9AE}" pid="5" name="MSIP_Label_1fa05ac2-419e-4c0f-b1af-15172be547c3_Name">
    <vt:lpwstr>Personal</vt:lpwstr>
  </property>
  <property fmtid="{D5CDD505-2E9C-101B-9397-08002B2CF9AE}" pid="6" name="MSIP_Label_1fa05ac2-419e-4c0f-b1af-15172be547c3_SiteId">
    <vt:lpwstr>189d9de0-0fef-4050-9094-e7cf9e6b3bb5</vt:lpwstr>
  </property>
  <property fmtid="{D5CDD505-2E9C-101B-9397-08002B2CF9AE}" pid="7" name="MSIP_Label_1fa05ac2-419e-4c0f-b1af-15172be547c3_ActionId">
    <vt:lpwstr>490dcd51-691d-4095-9b09-a506142a26ca</vt:lpwstr>
  </property>
  <property fmtid="{D5CDD505-2E9C-101B-9397-08002B2CF9AE}" pid="8" name="MSIP_Label_1fa05ac2-419e-4c0f-b1af-15172be547c3_ContentBits">
    <vt:lpwstr>2</vt:lpwstr>
  </property>
  <property fmtid="{D5CDD505-2E9C-101B-9397-08002B2CF9AE}" pid="9" name="ClassificationContentMarkingFooterLocations">
    <vt:lpwstr>Office Theme:3</vt:lpwstr>
  </property>
  <property fmtid="{D5CDD505-2E9C-101B-9397-08002B2CF9AE}" pid="10" name="ClassificationContentMarkingFooterText">
    <vt:lpwstr>Interna</vt:lpwstr>
  </property>
</Properties>
</file>