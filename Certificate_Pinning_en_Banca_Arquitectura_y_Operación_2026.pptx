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74" r:id="rId2"/>
    <p:sldId id="256" r:id="rId3"/>
    <p:sldId id="271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150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17787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4122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9734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1819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88DA3F0C-FBED-ED60-25D3-13B8AA7C588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4927600"/>
            <a:ext cx="40481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CL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Relationship Id="rId9" Type="http://schemas.openxmlformats.org/officeDocument/2006/relationships/image" Target="../media/image5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to/ajmal_hasan/guide-to-implementing-ssl-pinning-in-react-native-for-ios-and-android-4coo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2000250" cy="51435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1"/>
          <p:cNvSpPr/>
          <p:nvPr/>
        </p:nvSpPr>
        <p:spPr>
          <a:xfrm>
            <a:off x="1971675" y="0"/>
            <a:ext cx="28575" cy="51435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7" name="Text 4"/>
          <p:cNvSpPr/>
          <p:nvPr/>
        </p:nvSpPr>
        <p:spPr>
          <a:xfrm>
            <a:off x="4378178" y="870486"/>
            <a:ext cx="3411943" cy="5600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6600" b="1" kern="0" spc="-1">
                <a:solidFill>
                  <a:schemeClr val="accent2">
                    <a:lumMod val="75000"/>
                  </a:schemeClr>
                </a:solidFill>
              </a:rPr>
              <a:t>Pinning</a:t>
            </a:r>
            <a:endParaRPr lang="en-US" sz="6600" dirty="0">
              <a:solidFill>
                <a:schemeClr val="accent2">
                  <a:lumMod val="75000"/>
                </a:schemeClr>
              </a:solidFill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94B56CD5-E967-C695-1A00-50C72C52D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1034" y="1509823"/>
            <a:ext cx="6287375" cy="2501459"/>
          </a:xfrm>
          <a:prstGeom prst="rect">
            <a:avLst/>
          </a:prstGeom>
        </p:spPr>
      </p:pic>
      <p:sp>
        <p:nvSpPr>
          <p:cNvPr id="9" name="Text 4">
            <a:extLst>
              <a:ext uri="{FF2B5EF4-FFF2-40B4-BE49-F238E27FC236}">
                <a16:creationId xmlns:a16="http://schemas.microsoft.com/office/drawing/2014/main" id="{B1951048-EFB6-3EAE-5685-077461A60E95}"/>
              </a:ext>
            </a:extLst>
          </p:cNvPr>
          <p:cNvSpPr/>
          <p:nvPr/>
        </p:nvSpPr>
        <p:spPr>
          <a:xfrm>
            <a:off x="4736140" y="4611762"/>
            <a:ext cx="2529441" cy="4043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000" b="1" kern="0" spc="-1">
                <a:solidFill>
                  <a:schemeClr val="accent2">
                    <a:lumMod val="75000"/>
                  </a:schemeClr>
                </a:solidFill>
              </a:rPr>
              <a:t>Banco Estado 2026</a:t>
            </a:r>
            <a:endParaRPr lang="en-US" sz="2000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60766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2000250" cy="51435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1"/>
          <p:cNvSpPr/>
          <p:nvPr/>
        </p:nvSpPr>
        <p:spPr>
          <a:xfrm>
            <a:off x="1971675" y="0"/>
            <a:ext cx="28575" cy="51435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214313" y="285750"/>
            <a:ext cx="806888" cy="7298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6218" b="1" kern="0" spc="-4">
                <a:solidFill>
                  <a:schemeClr val="accent2">
                    <a:lumMod val="75000"/>
                  </a:schemeClr>
                </a:solidFill>
              </a:rPr>
              <a:t>01</a:t>
            </a:r>
            <a:endParaRPr lang="en-US" sz="6218" b="1" kern="0" spc="-4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214313" y="4507706"/>
            <a:ext cx="1571625" cy="1472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942" kern="0" spc="2">
                <a:solidFill>
                  <a:schemeClr val="accent2">
                    <a:lumMod val="75000"/>
                  </a:schemeClr>
                </a:solidFill>
              </a:rPr>
              <a:t>Definición</a:t>
            </a:r>
            <a:endParaRPr lang="en-US" sz="942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2571750" y="428625"/>
            <a:ext cx="6490970" cy="555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3731" b="1" kern="0" spc="-2">
                <a:solidFill>
                  <a:srgbClr val="111111"/>
                </a:solidFill>
              </a:rPr>
              <a:t>SSL Pinning </a:t>
            </a:r>
            <a:r>
              <a:rPr lang="en-US" sz="3731" b="1" kern="0" spc="-2">
                <a:solidFill>
                  <a:srgbClr val="111111"/>
                </a:solidFill>
                <a:sym typeface="Wingdings" panose="05000000000000000000" pitchFamily="2" charset="2"/>
              </a:rPr>
              <a:t></a:t>
            </a:r>
            <a:r>
              <a:rPr lang="en-US" sz="3731" b="1" kern="0" spc="-2">
                <a:solidFill>
                  <a:srgbClr val="111111"/>
                </a:solidFill>
              </a:rPr>
              <a:t>Certificate Pinning</a:t>
            </a:r>
            <a:endParaRPr lang="en-US" sz="3731" dirty="0"/>
          </a:p>
        </p:txBody>
      </p:sp>
      <p:sp>
        <p:nvSpPr>
          <p:cNvPr id="15" name="Shape 10"/>
          <p:cNvSpPr/>
          <p:nvPr/>
        </p:nvSpPr>
        <p:spPr>
          <a:xfrm>
            <a:off x="2516293" y="3884051"/>
            <a:ext cx="5529303" cy="570185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r>
              <a:rPr lang="es-CL" sz="1000">
                <a:solidFill>
                  <a:schemeClr val="accent2">
                    <a:lumMod val="60000"/>
                    <a:lumOff val="40000"/>
                  </a:schemeClr>
                </a:solidFill>
              </a:rPr>
              <a:t>     Su función principal es prevenir ataques de intermediario (Man-in-the-Middle), certificados fraudulentos o compromisos en la cadena de confianza, asegurando que la comunicación se realice únicamente con el servidor legítimo esperado.</a:t>
            </a:r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1750" y="3934058"/>
            <a:ext cx="114300" cy="11430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</p:pic>
      <p:sp>
        <p:nvSpPr>
          <p:cNvPr id="24" name="CuadroTexto 23">
            <a:extLst>
              <a:ext uri="{FF2B5EF4-FFF2-40B4-BE49-F238E27FC236}">
                <a16:creationId xmlns:a16="http://schemas.microsoft.com/office/drawing/2014/main" id="{0E50FF36-9199-FC20-E51C-654C5041FCAC}"/>
              </a:ext>
            </a:extLst>
          </p:cNvPr>
          <p:cNvSpPr txBox="1"/>
          <p:nvPr/>
        </p:nvSpPr>
        <p:spPr>
          <a:xfrm>
            <a:off x="2516293" y="1231307"/>
            <a:ext cx="6228079" cy="646331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s-CL" sz="1200">
                <a:solidFill>
                  <a:schemeClr val="accent2">
                    <a:lumMod val="75000"/>
                  </a:schemeClr>
                </a:solidFill>
              </a:rPr>
              <a:t>Pinning / Certificate Pinning) es un mecanismo de seguridad que refuerza la validación TLS al restringir explícitamente qué </a:t>
            </a:r>
            <a:r>
              <a:rPr lang="es-CL" sz="1200" b="1">
                <a:solidFill>
                  <a:schemeClr val="accent2">
                    <a:lumMod val="60000"/>
                    <a:lumOff val="40000"/>
                  </a:schemeClr>
                </a:solidFill>
              </a:rPr>
              <a:t>certificados, claves publicas o entidades certificadoras </a:t>
            </a:r>
            <a:r>
              <a:rPr lang="es-CL" sz="1200">
                <a:solidFill>
                  <a:schemeClr val="accent2">
                    <a:lumMod val="75000"/>
                  </a:schemeClr>
                </a:solidFill>
              </a:rPr>
              <a:t>son consideradas confiables por una aplicación.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53E34656-3537-0201-4516-7DA45DD44AC7}"/>
              </a:ext>
            </a:extLst>
          </p:cNvPr>
          <p:cNvSpPr txBox="1"/>
          <p:nvPr/>
        </p:nvSpPr>
        <p:spPr>
          <a:xfrm>
            <a:off x="2571750" y="2118794"/>
            <a:ext cx="295668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CL" sz="1200">
                <a:solidFill>
                  <a:schemeClr val="accent2">
                    <a:lumMod val="75000"/>
                  </a:schemeClr>
                </a:solidFill>
              </a:rPr>
              <a:t>En lugar de confiar únicamente en el trust store del sistema operativo, la aplicación “ancla” (pinnea) uno o más identificadores criptográficos conocidos (por ejemplo, una clave pública o un certificado específico) y rechaza cualquier conexión TLS que no coincida con esos valores, incluso si el certificado presentado es técnicamente válido</a:t>
            </a:r>
            <a:r>
              <a:rPr lang="es-CL" sz="1200"/>
              <a:t>.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A27C62A9-D863-6B8C-C8B5-F1557CC09316}"/>
              </a:ext>
            </a:extLst>
          </p:cNvPr>
          <p:cNvSpPr txBox="1"/>
          <p:nvPr/>
        </p:nvSpPr>
        <p:spPr>
          <a:xfrm>
            <a:off x="5706139" y="2107616"/>
            <a:ext cx="3038233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1200" b="1">
                <a:solidFill>
                  <a:schemeClr val="accent2">
                    <a:lumMod val="75000"/>
                  </a:schemeClr>
                </a:solidFill>
              </a:rPr>
              <a:t>y mTLS ????</a:t>
            </a:r>
          </a:p>
          <a:p>
            <a:endParaRPr lang="es-CL" sz="11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100" b="1">
                <a:solidFill>
                  <a:schemeClr val="accent2">
                    <a:lumMod val="50000"/>
                  </a:schemeClr>
                </a:solidFill>
              </a:rPr>
              <a:t>mTLS ≠ pinning.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100" b="1">
                <a:solidFill>
                  <a:schemeClr val="accent2">
                    <a:lumMod val="50000"/>
                  </a:schemeClr>
                </a:solidFill>
              </a:rPr>
              <a:t>mTLS autentica cliente y servidor con certificados (ideal para M2M y canales internos).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100" b="1">
                <a:solidFill>
                  <a:schemeClr val="accent2">
                    <a:lumMod val="50000"/>
                  </a:schemeClr>
                </a:solidFill>
              </a:rPr>
              <a:t>Pinning es una regla del cliente para restringir qué identidad del servidor acepta (aunque el trust store diga “ok”).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2000250" cy="51435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1"/>
          <p:cNvSpPr/>
          <p:nvPr/>
        </p:nvSpPr>
        <p:spPr>
          <a:xfrm>
            <a:off x="1971675" y="0"/>
            <a:ext cx="28575" cy="51435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214313" y="285750"/>
            <a:ext cx="806888" cy="7298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6218" b="1" kern="0" spc="-4">
                <a:solidFill>
                  <a:schemeClr val="accent2">
                    <a:lumMod val="75000"/>
                  </a:schemeClr>
                </a:solidFill>
              </a:rPr>
              <a:t>02</a:t>
            </a:r>
            <a:endParaRPr lang="en-US" sz="6218" b="1" kern="0" spc="-4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214313" y="4507706"/>
            <a:ext cx="1571625" cy="1472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kern="0" spc="2" dirty="0">
                <a:solidFill>
                  <a:schemeClr val="accent2">
                    <a:lumMod val="75000"/>
                  </a:schemeClr>
                </a:solidFill>
              </a:rPr>
              <a:t>Contexto y Objetivo</a:t>
            </a:r>
            <a:endParaRPr lang="en-US" sz="942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2571750" y="428625"/>
            <a:ext cx="6000750" cy="11315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3731" b="1" kern="0" spc="-2" dirty="0">
                <a:solidFill>
                  <a:srgbClr val="111111"/>
                </a:solidFill>
              </a:rPr>
              <a:t>Certificate Pinning en Banca</a:t>
            </a:r>
            <a:endParaRPr lang="en-US" sz="3731" dirty="0"/>
          </a:p>
        </p:txBody>
      </p:sp>
      <p:sp>
        <p:nvSpPr>
          <p:cNvPr id="8" name="Text 5"/>
          <p:cNvSpPr/>
          <p:nvPr/>
        </p:nvSpPr>
        <p:spPr>
          <a:xfrm>
            <a:off x="2571750" y="1703059"/>
            <a:ext cx="600075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44CC"/>
                </a:solidFill>
              </a:rPr>
              <a:t>Arquitectura y Operación 2026</a:t>
            </a:r>
            <a:endParaRPr lang="en-US" sz="1193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8913" y="2282596"/>
            <a:ext cx="171450" cy="1714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971800" y="2251342"/>
            <a:ext cx="1998771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3333"/>
                </a:solidFill>
              </a:rPr>
              <a:t>Problema que Resuelve</a:t>
            </a:r>
            <a:endParaRPr lang="en-US" sz="1193" dirty="0"/>
          </a:p>
        </p:txBody>
      </p:sp>
      <p:sp>
        <p:nvSpPr>
          <p:cNvPr id="11" name="Text 7"/>
          <p:cNvSpPr/>
          <p:nvPr/>
        </p:nvSpPr>
        <p:spPr>
          <a:xfrm>
            <a:off x="2728913" y="2592456"/>
            <a:ext cx="2757488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Mitigación efectiva de ataques MITM, incluso con CAs raíz instaladas en dispositivo, emisión indebida o inspección TLS no autorizada.</a:t>
            </a:r>
            <a:endParaRPr lang="en-US" sz="942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5013" y="2282596"/>
            <a:ext cx="171450" cy="17145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057900" y="2251342"/>
            <a:ext cx="1699933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3333"/>
                </a:solidFill>
              </a:rPr>
              <a:t>Lo que NO Resuelve</a:t>
            </a:r>
            <a:endParaRPr lang="en-US" sz="1193" dirty="0"/>
          </a:p>
        </p:txBody>
      </p:sp>
      <p:sp>
        <p:nvSpPr>
          <p:cNvPr id="14" name="Text 9"/>
          <p:cNvSpPr/>
          <p:nvPr/>
        </p:nvSpPr>
        <p:spPr>
          <a:xfrm>
            <a:off x="5815013" y="2592456"/>
            <a:ext cx="2757488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No protege contra dispositivos comprometidos (root/jailbreak), hooking en runtime, patching de binarios o ingeniería inversa.</a:t>
            </a:r>
            <a:endParaRPr lang="en-US" sz="942" dirty="0"/>
          </a:p>
        </p:txBody>
      </p:sp>
      <p:sp>
        <p:nvSpPr>
          <p:cNvPr id="15" name="Shape 10"/>
          <p:cNvSpPr/>
          <p:nvPr/>
        </p:nvSpPr>
        <p:spPr>
          <a:xfrm>
            <a:off x="2728913" y="3884051"/>
            <a:ext cx="5843588" cy="482203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Shape 11"/>
          <p:cNvSpPr/>
          <p:nvPr/>
        </p:nvSpPr>
        <p:spPr>
          <a:xfrm>
            <a:off x="2728913" y="3884051"/>
            <a:ext cx="71438" cy="482203"/>
          </a:xfrm>
          <a:prstGeom prst="rect">
            <a:avLst/>
          </a:prstGeom>
          <a:solidFill>
            <a:srgbClr val="FF3300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4638" y="3991208"/>
            <a:ext cx="114300" cy="11430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</p:pic>
      <p:sp>
        <p:nvSpPr>
          <p:cNvPr id="18" name="Text 12"/>
          <p:cNvSpPr/>
          <p:nvPr/>
        </p:nvSpPr>
        <p:spPr>
          <a:xfrm>
            <a:off x="2958657" y="3969776"/>
            <a:ext cx="557845" cy="14106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OBJETIVO:</a:t>
            </a:r>
          </a:p>
        </p:txBody>
      </p:sp>
      <p:sp>
        <p:nvSpPr>
          <p:cNvPr id="19" name="Text 13"/>
          <p:cNvSpPr/>
          <p:nvPr/>
        </p:nvSpPr>
        <p:spPr>
          <a:xfrm>
            <a:off x="3535654" y="3969776"/>
            <a:ext cx="4284827" cy="14106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Entender SPKI pinning desde una perspectiva de arquitectura y operación robusta,</a:t>
            </a:r>
          </a:p>
        </p:txBody>
      </p:sp>
      <p:sp>
        <p:nvSpPr>
          <p:cNvPr id="20" name="Text 14"/>
          <p:cNvSpPr/>
          <p:nvPr/>
        </p:nvSpPr>
        <p:spPr>
          <a:xfrm>
            <a:off x="3535654" y="4125153"/>
            <a:ext cx="2579232" cy="14106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superando la visión de "solo una línea de código".</a:t>
            </a:r>
          </a:p>
        </p:txBody>
      </p:sp>
    </p:spTree>
    <p:extLst>
      <p:ext uri="{BB962C8B-B14F-4D97-AF65-F5344CB8AC3E}">
        <p14:creationId xmlns:p14="http://schemas.microsoft.com/office/powerpoint/2010/main" val="26687535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2000250" cy="51435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1"/>
          <p:cNvSpPr/>
          <p:nvPr/>
        </p:nvSpPr>
        <p:spPr>
          <a:xfrm>
            <a:off x="1971675" y="0"/>
            <a:ext cx="28575" cy="51435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214313" y="285750"/>
            <a:ext cx="806888" cy="7298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6218" b="1" kern="0" spc="-4">
                <a:solidFill>
                  <a:schemeClr val="accent2">
                    <a:lumMod val="75000"/>
                  </a:schemeClr>
                </a:solidFill>
              </a:rPr>
              <a:t>03</a:t>
            </a:r>
            <a:endParaRPr lang="en-US" sz="6218" b="1" kern="0" spc="-4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214313" y="4682728"/>
            <a:ext cx="1571625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kern="0" spc="2" dirty="0">
                <a:solidFill>
                  <a:srgbClr val="F5F5F5">
                    <a:alpha val="80000"/>
                  </a:srgbClr>
                </a:solidFill>
              </a:rPr>
              <a:t>Terminología</a:t>
            </a:r>
            <a:endParaRPr lang="en-US" sz="942" dirty="0"/>
          </a:p>
        </p:txBody>
      </p:sp>
      <p:sp>
        <p:nvSpPr>
          <p:cNvPr id="7" name="Text 4"/>
          <p:cNvSpPr/>
          <p:nvPr/>
        </p:nvSpPr>
        <p:spPr>
          <a:xfrm>
            <a:off x="2571750" y="428625"/>
            <a:ext cx="6000750" cy="44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62" b="1" kern="0" spc="-1" dirty="0">
                <a:solidFill>
                  <a:srgbClr val="111111"/>
                </a:solidFill>
              </a:rPr>
              <a:t>Aclaración Terminológica</a:t>
            </a:r>
            <a:endParaRPr lang="en-US" sz="2862" dirty="0"/>
          </a:p>
        </p:txBody>
      </p:sp>
      <p:sp>
        <p:nvSpPr>
          <p:cNvPr id="8" name="Text 5"/>
          <p:cNvSpPr/>
          <p:nvPr/>
        </p:nvSpPr>
        <p:spPr>
          <a:xfrm>
            <a:off x="2571750" y="940101"/>
            <a:ext cx="600075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44CC"/>
                </a:solidFill>
              </a:rPr>
              <a:t>Del Legado al Estándar 2026</a:t>
            </a:r>
            <a:endParaRPr lang="en-US" sz="1193" dirty="0"/>
          </a:p>
        </p:txBody>
      </p:sp>
      <p:sp>
        <p:nvSpPr>
          <p:cNvPr id="9" name="Shape 6"/>
          <p:cNvSpPr/>
          <p:nvPr/>
        </p:nvSpPr>
        <p:spPr>
          <a:xfrm>
            <a:off x="2586038" y="1431234"/>
            <a:ext cx="2986088" cy="3269354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Shape 7"/>
          <p:cNvSpPr/>
          <p:nvPr/>
        </p:nvSpPr>
        <p:spPr>
          <a:xfrm>
            <a:off x="5557838" y="1431234"/>
            <a:ext cx="14288" cy="326935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7475" y="1539283"/>
            <a:ext cx="200025" cy="2000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928938" y="1502671"/>
            <a:ext cx="1488188" cy="27324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666666"/>
                </a:solidFill>
              </a:rPr>
              <a:t>"SSL Pinning"</a:t>
            </a:r>
            <a:endParaRPr lang="en-US" sz="1397" dirty="0"/>
          </a:p>
        </p:txBody>
      </p:sp>
      <p:sp>
        <p:nvSpPr>
          <p:cNvPr id="13" name="Text 9"/>
          <p:cNvSpPr/>
          <p:nvPr/>
        </p:nvSpPr>
        <p:spPr>
          <a:xfrm>
            <a:off x="2657475" y="1918795"/>
            <a:ext cx="2843213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683" b="1" dirty="0">
                <a:solidFill>
                  <a:srgbClr val="111111"/>
                </a:solidFill>
              </a:rPr>
              <a:t>Qué pinea</a:t>
            </a:r>
            <a:endParaRPr lang="en-US" sz="683" dirty="0"/>
          </a:p>
        </p:txBody>
      </p:sp>
      <p:sp>
        <p:nvSpPr>
          <p:cNvPr id="14" name="Text 10"/>
          <p:cNvSpPr/>
          <p:nvPr/>
        </p:nvSpPr>
        <p:spPr>
          <a:xfrm>
            <a:off x="2657475" y="2096300"/>
            <a:ext cx="2508628" cy="3550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111111"/>
                </a:solidFill>
              </a:rPr>
              <a:t>Certificado X.509 completo (incluye firma, validez, emisor).</a:t>
            </a:r>
            <a:endParaRPr lang="en-US" sz="942" dirty="0"/>
          </a:p>
        </p:txBody>
      </p:sp>
      <p:sp>
        <p:nvSpPr>
          <p:cNvPr id="15" name="Text 11"/>
          <p:cNvSpPr/>
          <p:nvPr/>
        </p:nvSpPr>
        <p:spPr>
          <a:xfrm>
            <a:off x="2657475" y="2597423"/>
            <a:ext cx="2843213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683" b="1" dirty="0">
                <a:solidFill>
                  <a:srgbClr val="111111"/>
                </a:solidFill>
              </a:rPr>
              <a:t>Problema Operativo</a:t>
            </a:r>
            <a:endParaRPr lang="en-US" sz="683" dirty="0"/>
          </a:p>
        </p:txBody>
      </p:sp>
      <p:sp>
        <p:nvSpPr>
          <p:cNvPr id="16" name="Text 12"/>
          <p:cNvSpPr/>
          <p:nvPr/>
        </p:nvSpPr>
        <p:spPr>
          <a:xfrm>
            <a:off x="2657475" y="2774928"/>
            <a:ext cx="2823288" cy="3550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111111"/>
                </a:solidFill>
              </a:rPr>
              <a:t>Cada renovación de certificado rompe la app si no se coordina al segundo.</a:t>
            </a:r>
            <a:endParaRPr lang="en-US" sz="942" dirty="0"/>
          </a:p>
        </p:txBody>
      </p:sp>
      <p:sp>
        <p:nvSpPr>
          <p:cNvPr id="17" name="Text 13"/>
          <p:cNvSpPr/>
          <p:nvPr/>
        </p:nvSpPr>
        <p:spPr>
          <a:xfrm>
            <a:off x="2657475" y="3276051"/>
            <a:ext cx="2843213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683" b="1" dirty="0">
                <a:solidFill>
                  <a:srgbClr val="111111"/>
                </a:solidFill>
              </a:rPr>
              <a:t>Estado 2026</a:t>
            </a:r>
            <a:endParaRPr lang="en-US" sz="683" dirty="0"/>
          </a:p>
        </p:txBody>
      </p:sp>
      <p:sp>
        <p:nvSpPr>
          <p:cNvPr id="18" name="Text 14"/>
          <p:cNvSpPr/>
          <p:nvPr/>
        </p:nvSpPr>
        <p:spPr>
          <a:xfrm>
            <a:off x="2657475" y="3453557"/>
            <a:ext cx="1447279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85" b="1" dirty="0">
                <a:solidFill>
                  <a:srgbClr val="FF3300"/>
                </a:solidFill>
              </a:rPr>
              <a:t>OBSOLETO / RIESGOSO</a:t>
            </a:r>
            <a:endParaRPr lang="en-US" sz="885" dirty="0"/>
          </a:p>
        </p:txBody>
      </p:sp>
      <p:sp>
        <p:nvSpPr>
          <p:cNvPr id="19" name="Shape 15"/>
          <p:cNvSpPr/>
          <p:nvPr/>
        </p:nvSpPr>
        <p:spPr>
          <a:xfrm>
            <a:off x="5572125" y="1431234"/>
            <a:ext cx="2986088" cy="326935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3563" y="1539283"/>
            <a:ext cx="200025" cy="200025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915025" y="1502671"/>
            <a:ext cx="1412398" cy="27324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0044CC"/>
                </a:solidFill>
              </a:rPr>
              <a:t>SPKI Pinning</a:t>
            </a:r>
            <a:endParaRPr lang="en-US" sz="1397" dirty="0"/>
          </a:p>
        </p:txBody>
      </p:sp>
      <p:sp>
        <p:nvSpPr>
          <p:cNvPr id="22" name="Text 17"/>
          <p:cNvSpPr/>
          <p:nvPr/>
        </p:nvSpPr>
        <p:spPr>
          <a:xfrm>
            <a:off x="5643563" y="1918795"/>
            <a:ext cx="2843213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683" b="1" dirty="0">
                <a:solidFill>
                  <a:srgbClr val="111111"/>
                </a:solidFill>
              </a:rPr>
              <a:t>Qué pinea</a:t>
            </a:r>
            <a:endParaRPr lang="en-US" sz="683" dirty="0"/>
          </a:p>
        </p:txBody>
      </p:sp>
      <p:sp>
        <p:nvSpPr>
          <p:cNvPr id="23" name="Text 18"/>
          <p:cNvSpPr/>
          <p:nvPr/>
        </p:nvSpPr>
        <p:spPr>
          <a:xfrm>
            <a:off x="5643563" y="2096300"/>
            <a:ext cx="2269201" cy="3550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111111"/>
                </a:solidFill>
              </a:rPr>
              <a:t>Hash SHA-256 solo de la clave pública (SubjectPublicKeyInfo).</a:t>
            </a:r>
            <a:endParaRPr lang="en-US" sz="942" dirty="0"/>
          </a:p>
        </p:txBody>
      </p:sp>
      <p:sp>
        <p:nvSpPr>
          <p:cNvPr id="24" name="Text 19"/>
          <p:cNvSpPr/>
          <p:nvPr/>
        </p:nvSpPr>
        <p:spPr>
          <a:xfrm>
            <a:off x="5643563" y="2597423"/>
            <a:ext cx="2843213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683" b="1" dirty="0">
                <a:solidFill>
                  <a:srgbClr val="111111"/>
                </a:solidFill>
              </a:rPr>
              <a:t>Ventaja Operativa</a:t>
            </a:r>
            <a:endParaRPr lang="en-US" sz="683" dirty="0"/>
          </a:p>
        </p:txBody>
      </p:sp>
      <p:sp>
        <p:nvSpPr>
          <p:cNvPr id="25" name="Text 20"/>
          <p:cNvSpPr/>
          <p:nvPr/>
        </p:nvSpPr>
        <p:spPr>
          <a:xfrm>
            <a:off x="5643563" y="2774928"/>
            <a:ext cx="2769654" cy="3550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111111"/>
                </a:solidFill>
              </a:rPr>
              <a:t>Permite renovar el certificado manteniendo la misma clave (Key Rotation).</a:t>
            </a:r>
            <a:endParaRPr lang="en-US" sz="942" dirty="0"/>
          </a:p>
        </p:txBody>
      </p:sp>
      <p:sp>
        <p:nvSpPr>
          <p:cNvPr id="26" name="Text 21"/>
          <p:cNvSpPr/>
          <p:nvPr/>
        </p:nvSpPr>
        <p:spPr>
          <a:xfrm>
            <a:off x="5643563" y="3276051"/>
            <a:ext cx="2843213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683" b="1" dirty="0">
                <a:solidFill>
                  <a:srgbClr val="111111"/>
                </a:solidFill>
              </a:rPr>
              <a:t>Estado 2026</a:t>
            </a:r>
            <a:endParaRPr lang="en-US" sz="683" dirty="0"/>
          </a:p>
        </p:txBody>
      </p:sp>
      <p:sp>
        <p:nvSpPr>
          <p:cNvPr id="27" name="Text 22"/>
          <p:cNvSpPr/>
          <p:nvPr/>
        </p:nvSpPr>
        <p:spPr>
          <a:xfrm>
            <a:off x="5643563" y="3453557"/>
            <a:ext cx="1388762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85" b="1" dirty="0">
                <a:solidFill>
                  <a:srgbClr val="0044CC"/>
                </a:solidFill>
              </a:rPr>
              <a:t>ESTÁNDAR BANCARIO</a:t>
            </a:r>
            <a:endParaRPr lang="en-US" sz="88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6324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2000250" cy="5632456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1"/>
          <p:cNvSpPr/>
          <p:nvPr/>
        </p:nvSpPr>
        <p:spPr>
          <a:xfrm>
            <a:off x="1971675" y="0"/>
            <a:ext cx="28575" cy="5632456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214313" y="285750"/>
            <a:ext cx="806888" cy="7298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6218" b="1" kern="0" spc="-4">
                <a:solidFill>
                  <a:schemeClr val="accent2">
                    <a:lumMod val="75000"/>
                  </a:schemeClr>
                </a:solidFill>
              </a:rPr>
              <a:t>04</a:t>
            </a:r>
            <a:endParaRPr lang="en-US" sz="6218" b="1" kern="0" spc="-4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214313" y="5003806"/>
            <a:ext cx="1571625" cy="3500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kern="0" spc="2" dirty="0">
                <a:solidFill>
                  <a:srgbClr val="F5F5F5">
                    <a:alpha val="80000"/>
                  </a:srgbClr>
                </a:solidFill>
              </a:rPr>
              <a:t>Modelo de Amenaza</a:t>
            </a:r>
            <a:endParaRPr lang="en-US" sz="942" dirty="0"/>
          </a:p>
        </p:txBody>
      </p:sp>
      <p:sp>
        <p:nvSpPr>
          <p:cNvPr id="7" name="Text 4"/>
          <p:cNvSpPr/>
          <p:nvPr/>
        </p:nvSpPr>
        <p:spPr>
          <a:xfrm>
            <a:off x="2428875" y="285750"/>
            <a:ext cx="6286500" cy="8800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62" b="1" kern="0" spc="-1" dirty="0">
                <a:solidFill>
                  <a:srgbClr val="111111"/>
                </a:solidFill>
              </a:rPr>
              <a:t>Modelo de Amenaza Bancario</a:t>
            </a:r>
            <a:endParaRPr lang="en-US" sz="2862" dirty="0"/>
          </a:p>
        </p:txBody>
      </p:sp>
      <p:sp>
        <p:nvSpPr>
          <p:cNvPr id="8" name="Text 5"/>
          <p:cNvSpPr/>
          <p:nvPr/>
        </p:nvSpPr>
        <p:spPr>
          <a:xfrm>
            <a:off x="2428875" y="1001050"/>
            <a:ext cx="62865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44CC"/>
                </a:solidFill>
              </a:rPr>
              <a:t>Alcance y Límites del Pinning</a:t>
            </a:r>
            <a:endParaRPr lang="en-US" sz="1193" dirty="0"/>
          </a:p>
        </p:txBody>
      </p:sp>
      <p:sp>
        <p:nvSpPr>
          <p:cNvPr id="9" name="Shape 6"/>
          <p:cNvSpPr/>
          <p:nvPr/>
        </p:nvSpPr>
        <p:spPr>
          <a:xfrm>
            <a:off x="2428875" y="1663627"/>
            <a:ext cx="6286500" cy="2000250"/>
          </a:xfrm>
          <a:prstGeom prst="rect">
            <a:avLst/>
          </a:prstGeom>
          <a:solidFill>
            <a:srgbClr val="FFFFFF"/>
          </a:solidFill>
          <a:ln w="18288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0880" y="1740747"/>
            <a:ext cx="4477173" cy="186431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8875" y="4397480"/>
            <a:ext cx="142875" cy="14287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643188" y="4371584"/>
            <a:ext cx="2006110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44CC"/>
                </a:solidFill>
              </a:rPr>
              <a:t>SÍ Mitiga (Network Level)</a:t>
            </a:r>
            <a:endParaRPr lang="en-US" sz="987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8875" y="4701983"/>
            <a:ext cx="100013" cy="100013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2600325" y="4673408"/>
            <a:ext cx="221972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11111"/>
                </a:solidFill>
              </a:rPr>
              <a:t>MITM con CA raíz instalada en dispositivo</a:t>
            </a:r>
            <a:endParaRPr lang="en-US" sz="834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28875" y="4928797"/>
            <a:ext cx="100013" cy="100013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2600325" y="4900222"/>
            <a:ext cx="205558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11111"/>
                </a:solidFill>
              </a:rPr>
              <a:t>Inspección TLS no autorizada (Proxies)</a:t>
            </a:r>
            <a:endParaRPr lang="en-US" sz="834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28875" y="5155611"/>
            <a:ext cx="100013" cy="100013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2600325" y="5127036"/>
            <a:ext cx="2697714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11111"/>
                </a:solidFill>
              </a:rPr>
              <a:t>Emisión indebida de certificados (CA Compromise)</a:t>
            </a:r>
            <a:endParaRPr lang="en-US" sz="834" dirty="0"/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0" y="4397480"/>
            <a:ext cx="142875" cy="142875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5929313" y="4371584"/>
            <a:ext cx="1888378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F3300"/>
                </a:solidFill>
              </a:rPr>
              <a:t>NO Mitiga (Device Level)</a:t>
            </a:r>
            <a:endParaRPr lang="en-US" sz="987" dirty="0"/>
          </a:p>
        </p:txBody>
      </p:sp>
      <p:pic>
        <p:nvPicPr>
          <p:cNvPr id="21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15000" y="4701983"/>
            <a:ext cx="62508" cy="100013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5848945" y="4673408"/>
            <a:ext cx="226646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11111"/>
                </a:solidFill>
              </a:rPr>
              <a:t>Dispositivo comprometido (Root/Jailbreak)</a:t>
            </a:r>
            <a:endParaRPr lang="en-US" sz="834" dirty="0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15000" y="4928797"/>
            <a:ext cx="62508" cy="100013"/>
          </a:xfrm>
          <a:prstGeom prst="rect">
            <a:avLst/>
          </a:prstGeom>
        </p:spPr>
      </p:pic>
      <p:sp>
        <p:nvSpPr>
          <p:cNvPr id="24" name="Text 13"/>
          <p:cNvSpPr/>
          <p:nvPr/>
        </p:nvSpPr>
        <p:spPr>
          <a:xfrm>
            <a:off x="5848945" y="4900222"/>
            <a:ext cx="180628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11111"/>
                </a:solidFill>
              </a:rPr>
              <a:t>Hooking / Instrumentation (Frida)</a:t>
            </a:r>
            <a:endParaRPr lang="en-US" sz="834" dirty="0"/>
          </a:p>
        </p:txBody>
      </p:sp>
      <p:pic>
        <p:nvPicPr>
          <p:cNvPr id="25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15000" y="5155611"/>
            <a:ext cx="62508" cy="100013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5848945" y="5127036"/>
            <a:ext cx="1605697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111111"/>
                </a:solidFill>
              </a:rPr>
              <a:t>Patching del binario de la App</a:t>
            </a:r>
            <a:endParaRPr lang="en-US" sz="834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2000250" cy="51435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1"/>
          <p:cNvSpPr/>
          <p:nvPr/>
        </p:nvSpPr>
        <p:spPr>
          <a:xfrm>
            <a:off x="1971675" y="0"/>
            <a:ext cx="28575" cy="51435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214313" y="285750"/>
            <a:ext cx="806888" cy="7298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6218" b="1" kern="0" spc="-4">
                <a:solidFill>
                  <a:schemeClr val="accent2">
                    <a:lumMod val="75000"/>
                  </a:schemeClr>
                </a:solidFill>
              </a:rPr>
              <a:t>05</a:t>
            </a:r>
            <a:endParaRPr lang="en-US" sz="6218" b="1" kern="0" spc="-4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214313" y="4682728"/>
            <a:ext cx="1571625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kern="0" spc="2" dirty="0">
                <a:solidFill>
                  <a:srgbClr val="F5F5F5">
                    <a:alpha val="80000"/>
                  </a:srgbClr>
                </a:solidFill>
              </a:rPr>
              <a:t>Definición Técnica</a:t>
            </a:r>
            <a:endParaRPr lang="en-US" sz="942" dirty="0"/>
          </a:p>
        </p:txBody>
      </p:sp>
      <p:sp>
        <p:nvSpPr>
          <p:cNvPr id="7" name="Text 4"/>
          <p:cNvSpPr/>
          <p:nvPr/>
        </p:nvSpPr>
        <p:spPr>
          <a:xfrm>
            <a:off x="2428875" y="285750"/>
            <a:ext cx="6286500" cy="44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62" b="1" kern="0" spc="-1" dirty="0">
                <a:solidFill>
                  <a:srgbClr val="111111"/>
                </a:solidFill>
              </a:rPr>
              <a:t>Qué es SPKI Pinning</a:t>
            </a:r>
            <a:endParaRPr lang="en-US" sz="2862" dirty="0"/>
          </a:p>
        </p:txBody>
      </p:sp>
      <p:sp>
        <p:nvSpPr>
          <p:cNvPr id="8" name="Text 5"/>
          <p:cNvSpPr/>
          <p:nvPr/>
        </p:nvSpPr>
        <p:spPr>
          <a:xfrm>
            <a:off x="2428875" y="797226"/>
            <a:ext cx="62865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44CC"/>
                </a:solidFill>
              </a:rPr>
              <a:t>SubjectPublicKeyInfo: El Estándar</a:t>
            </a:r>
            <a:endParaRPr lang="en-US" sz="1193" dirty="0"/>
          </a:p>
        </p:txBody>
      </p:sp>
      <p:sp>
        <p:nvSpPr>
          <p:cNvPr id="9" name="Shape 6"/>
          <p:cNvSpPr/>
          <p:nvPr/>
        </p:nvSpPr>
        <p:spPr>
          <a:xfrm>
            <a:off x="2428875" y="1345509"/>
            <a:ext cx="3643313" cy="3512241"/>
          </a:xfrm>
          <a:prstGeom prst="rect">
            <a:avLst/>
          </a:prstGeom>
          <a:solidFill>
            <a:srgbClr val="FFFFFF"/>
          </a:solidFill>
          <a:ln w="18288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0313" y="2124428"/>
            <a:ext cx="3500438" cy="195440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22231" y="1345509"/>
            <a:ext cx="2293144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44CC"/>
                </a:solidFill>
              </a:rPr>
              <a:t>Paso 01: Extracción</a:t>
            </a:r>
            <a:endParaRPr lang="en-US" sz="683" dirty="0"/>
          </a:p>
        </p:txBody>
      </p:sp>
      <p:sp>
        <p:nvSpPr>
          <p:cNvPr id="12" name="Text 8"/>
          <p:cNvSpPr/>
          <p:nvPr/>
        </p:nvSpPr>
        <p:spPr>
          <a:xfrm>
            <a:off x="6422231" y="1516959"/>
            <a:ext cx="2293144" cy="48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834" dirty="0">
                <a:solidFill>
                  <a:srgbClr val="111111"/>
                </a:solidFill>
              </a:rPr>
              <a:t>Se aísla la estructura ASN.1 DER que contiene el algoritmo y la clave pública del certificado.</a:t>
            </a:r>
            <a:endParaRPr lang="en-US" sz="834" dirty="0"/>
          </a:p>
        </p:txBody>
      </p:sp>
      <p:sp>
        <p:nvSpPr>
          <p:cNvPr id="13" name="Text 9"/>
          <p:cNvSpPr/>
          <p:nvPr/>
        </p:nvSpPr>
        <p:spPr>
          <a:xfrm>
            <a:off x="6422231" y="2139860"/>
            <a:ext cx="2293144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44CC"/>
                </a:solidFill>
              </a:rPr>
              <a:t>Paso 02: Hashing</a:t>
            </a:r>
            <a:endParaRPr lang="en-US" sz="683" dirty="0"/>
          </a:p>
        </p:txBody>
      </p:sp>
      <p:sp>
        <p:nvSpPr>
          <p:cNvPr id="14" name="Text 10"/>
          <p:cNvSpPr/>
          <p:nvPr/>
        </p:nvSpPr>
        <p:spPr>
          <a:xfrm>
            <a:off x="6422231" y="2311310"/>
            <a:ext cx="2293144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834" dirty="0">
                <a:solidFill>
                  <a:srgbClr val="111111"/>
                </a:solidFill>
              </a:rPr>
              <a:t>Se aplica SHA-256 a los bytes extraídos para obtener una huella digital única y fija.</a:t>
            </a:r>
            <a:endParaRPr lang="en-US" sz="834" dirty="0"/>
          </a:p>
        </p:txBody>
      </p:sp>
      <p:sp>
        <p:nvSpPr>
          <p:cNvPr id="15" name="Text 11"/>
          <p:cNvSpPr/>
          <p:nvPr/>
        </p:nvSpPr>
        <p:spPr>
          <a:xfrm>
            <a:off x="6286500" y="2774203"/>
            <a:ext cx="2428875" cy="785813"/>
          </a:xfrm>
          <a:prstGeom prst="rect">
            <a:avLst/>
          </a:prstGeom>
          <a:noFill/>
          <a:ln/>
        </p:spPr>
        <p:txBody>
          <a:bodyPr wrap="square" lIns="127508" tIns="127508" rIns="127508" bIns="127508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44CC"/>
                </a:solidFill>
              </a:rPr>
              <a:t>&gt; POR QUÉ SPKI:
 A diferencia del certificado completo, el SPKI no cambia al renovar el certificado si mantienes la misma Keypair.</a:t>
            </a:r>
            <a:endParaRPr lang="en-US" sz="683" dirty="0"/>
          </a:p>
        </p:txBody>
      </p:sp>
      <p:sp>
        <p:nvSpPr>
          <p:cNvPr id="16" name="Shape 12"/>
          <p:cNvSpPr/>
          <p:nvPr/>
        </p:nvSpPr>
        <p:spPr>
          <a:xfrm>
            <a:off x="6286500" y="4255889"/>
            <a:ext cx="2428875" cy="601861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7" name="Shape 13"/>
          <p:cNvSpPr/>
          <p:nvPr/>
        </p:nvSpPr>
        <p:spPr>
          <a:xfrm>
            <a:off x="6286500" y="4255889"/>
            <a:ext cx="28575" cy="601861"/>
          </a:xfrm>
          <a:prstGeom prst="rect">
            <a:avLst/>
          </a:prstGeom>
          <a:solidFill>
            <a:srgbClr val="0044CC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8" name="Text 14"/>
          <p:cNvSpPr/>
          <p:nvPr/>
        </p:nvSpPr>
        <p:spPr>
          <a:xfrm>
            <a:off x="6393656" y="4363045"/>
            <a:ext cx="2214563" cy="982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700"/>
              </a:lnSpc>
              <a:buNone/>
            </a:pPr>
            <a:r>
              <a:rPr lang="en-US" sz="516" dirty="0">
                <a:solidFill>
                  <a:srgbClr val="888888"/>
                </a:solidFill>
              </a:rPr>
              <a:t>Ejemplo de Pin (Base64)</a:t>
            </a:r>
            <a:endParaRPr lang="en-US" sz="516" dirty="0"/>
          </a:p>
        </p:txBody>
      </p:sp>
      <p:sp>
        <p:nvSpPr>
          <p:cNvPr id="19" name="Text 15"/>
          <p:cNvSpPr/>
          <p:nvPr/>
        </p:nvSpPr>
        <p:spPr>
          <a:xfrm>
            <a:off x="6393656" y="4496991"/>
            <a:ext cx="2176109" cy="1268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74" dirty="0">
                <a:solidFill>
                  <a:srgbClr val="00FF00"/>
                </a:solidFill>
              </a:rPr>
              <a:t>47DEQpj8HBSa+/TImW+5JCeuQeRkm5NMpjWZG3</a:t>
            </a:r>
            <a:endParaRPr lang="en-US" sz="674" dirty="0"/>
          </a:p>
        </p:txBody>
      </p:sp>
      <p:sp>
        <p:nvSpPr>
          <p:cNvPr id="20" name="Text 16"/>
          <p:cNvSpPr/>
          <p:nvPr/>
        </p:nvSpPr>
        <p:spPr>
          <a:xfrm>
            <a:off x="6393656" y="4623792"/>
            <a:ext cx="335003" cy="1268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74" dirty="0">
                <a:solidFill>
                  <a:srgbClr val="00FF00"/>
                </a:solidFill>
              </a:rPr>
              <a:t>hSuFU=</a:t>
            </a:r>
            <a:endParaRPr lang="en-US" sz="674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7098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2000250" cy="5170987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1"/>
          <p:cNvSpPr/>
          <p:nvPr/>
        </p:nvSpPr>
        <p:spPr>
          <a:xfrm>
            <a:off x="1971675" y="0"/>
            <a:ext cx="28575" cy="5170987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214313" y="285750"/>
            <a:ext cx="806888" cy="7298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6218" b="1" kern="0" spc="-4">
                <a:solidFill>
                  <a:schemeClr val="accent2">
                    <a:lumMod val="75000"/>
                  </a:schemeClr>
                </a:solidFill>
              </a:rPr>
              <a:t>06</a:t>
            </a:r>
            <a:endParaRPr lang="en-US" sz="6218" b="1" kern="0" spc="-4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214313" y="4535193"/>
            <a:ext cx="1571625" cy="3500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kern="0" spc="2" dirty="0">
                <a:solidFill>
                  <a:srgbClr val="F5F5F5">
                    <a:alpha val="80000"/>
                  </a:srgbClr>
                </a:solidFill>
              </a:rPr>
              <a:t>Ventajas Operativas</a:t>
            </a:r>
            <a:endParaRPr lang="en-US" sz="942" dirty="0"/>
          </a:p>
        </p:txBody>
      </p:sp>
      <p:sp>
        <p:nvSpPr>
          <p:cNvPr id="7" name="Text 4"/>
          <p:cNvSpPr/>
          <p:nvPr/>
        </p:nvSpPr>
        <p:spPr>
          <a:xfrm>
            <a:off x="2571750" y="428625"/>
            <a:ext cx="6000750" cy="44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62" b="1" kern="0" spc="-1" dirty="0">
                <a:solidFill>
                  <a:srgbClr val="111111"/>
                </a:solidFill>
              </a:rPr>
              <a:t>Por qué SPKI Pinning</a:t>
            </a:r>
            <a:endParaRPr lang="en-US" sz="2862" dirty="0"/>
          </a:p>
        </p:txBody>
      </p:sp>
      <p:sp>
        <p:nvSpPr>
          <p:cNvPr id="8" name="Text 5"/>
          <p:cNvSpPr/>
          <p:nvPr/>
        </p:nvSpPr>
        <p:spPr>
          <a:xfrm>
            <a:off x="2571750" y="940101"/>
            <a:ext cx="600075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44CC"/>
                </a:solidFill>
              </a:rPr>
              <a:t>La Opción Correcta en Banca</a:t>
            </a:r>
            <a:endParaRPr lang="en-US" sz="1193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8919" y="1631259"/>
            <a:ext cx="2650331" cy="228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778919" y="1967015"/>
            <a:ext cx="2650331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11111"/>
                </a:solidFill>
              </a:rPr>
              <a:t>Renovación sin Ruptura</a:t>
            </a:r>
            <a:endParaRPr lang="en-US" sz="1193" dirty="0"/>
          </a:p>
        </p:txBody>
      </p:sp>
      <p:sp>
        <p:nvSpPr>
          <p:cNvPr id="11" name="Text 7"/>
          <p:cNvSpPr/>
          <p:nvPr/>
        </p:nvSpPr>
        <p:spPr>
          <a:xfrm>
            <a:off x="2778919" y="2272410"/>
            <a:ext cx="2650331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Permite renovar el certificado manteniendo la misma </a:t>
            </a:r>
            <a:r>
              <a:rPr lang="en-US" sz="885" b="1" dirty="0">
                <a:solidFill>
                  <a:srgbClr val="111111"/>
                </a:solidFill>
              </a:rPr>
              <a:t>keypair</a:t>
            </a:r>
            <a:r>
              <a:rPr lang="en-US" sz="942" dirty="0">
                <a:solidFill>
                  <a:srgbClr val="333333"/>
                </a:solidFill>
              </a:rPr>
              <a:t>. Los clientes no notan el cambio y el servicio continúa ininterrumpido.</a:t>
            </a:r>
            <a:endParaRPr lang="en-US" sz="942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2169" y="1631259"/>
            <a:ext cx="2650331" cy="2286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922169" y="1967015"/>
            <a:ext cx="2650331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11111"/>
                </a:solidFill>
              </a:rPr>
              <a:t>Rotaciones Cortas</a:t>
            </a:r>
            <a:endParaRPr lang="en-US" sz="1193" dirty="0"/>
          </a:p>
        </p:txBody>
      </p:sp>
      <p:sp>
        <p:nvSpPr>
          <p:cNvPr id="14" name="Text 9"/>
          <p:cNvSpPr/>
          <p:nvPr/>
        </p:nvSpPr>
        <p:spPr>
          <a:xfrm>
            <a:off x="5922169" y="2272410"/>
            <a:ext cx="2650331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Compatible con políticas de seguridad modernas (ej. rotación cada </a:t>
            </a:r>
            <a:r>
              <a:rPr lang="en-US" sz="885" b="1" dirty="0">
                <a:solidFill>
                  <a:srgbClr val="111111"/>
                </a:solidFill>
              </a:rPr>
              <a:t>45 días</a:t>
            </a:r>
            <a:r>
              <a:rPr lang="en-US" sz="942" dirty="0">
                <a:solidFill>
                  <a:srgbClr val="333333"/>
                </a:solidFill>
              </a:rPr>
              <a:t>). Certificate Pinning haría esto imposible de gestionar.</a:t>
            </a:r>
            <a:endParaRPr lang="en-US" sz="942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78919" y="3329685"/>
            <a:ext cx="2650331" cy="2286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2778919" y="3665441"/>
            <a:ext cx="2650331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11111"/>
                </a:solidFill>
              </a:rPr>
              <a:t>Control Operacional</a:t>
            </a:r>
            <a:endParaRPr lang="en-US" sz="1193" dirty="0"/>
          </a:p>
        </p:txBody>
      </p:sp>
      <p:sp>
        <p:nvSpPr>
          <p:cNvPr id="17" name="Text 11"/>
          <p:cNvSpPr/>
          <p:nvPr/>
        </p:nvSpPr>
        <p:spPr>
          <a:xfrm>
            <a:off x="2778919" y="3970837"/>
            <a:ext cx="2650331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El backend puede cambiar certificados sin coordinar con todas las versiones de la app en el mercado. Desacopla el ciclo de vida de la app del ciclo de certificados.</a:t>
            </a:r>
            <a:endParaRPr lang="en-US" sz="942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2169" y="3329685"/>
            <a:ext cx="2650331" cy="2286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922169" y="3665441"/>
            <a:ext cx="2650331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11111"/>
                </a:solidFill>
              </a:rPr>
              <a:t>Menor Riesgo Auto-DoS</a:t>
            </a:r>
            <a:endParaRPr lang="en-US" sz="1193" dirty="0"/>
          </a:p>
        </p:txBody>
      </p:sp>
      <p:sp>
        <p:nvSpPr>
          <p:cNvPr id="20" name="Text 13"/>
          <p:cNvSpPr/>
          <p:nvPr/>
        </p:nvSpPr>
        <p:spPr>
          <a:xfrm>
            <a:off x="5922169" y="3970837"/>
            <a:ext cx="2650331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Al usar múltiples pins (Activo + Backup), se evita bloquear la propia aplicación por errores en la renovación o expiración de certificados.</a:t>
            </a:r>
            <a:endParaRPr lang="en-US" sz="942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9668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2000250" cy="5196687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1"/>
          <p:cNvSpPr/>
          <p:nvPr/>
        </p:nvSpPr>
        <p:spPr>
          <a:xfrm>
            <a:off x="1971675" y="0"/>
            <a:ext cx="28575" cy="5196687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214313" y="285750"/>
            <a:ext cx="806888" cy="7298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6218" b="1" kern="0" spc="-4">
                <a:solidFill>
                  <a:schemeClr val="accent2">
                    <a:lumMod val="75000"/>
                  </a:schemeClr>
                </a:solidFill>
              </a:rPr>
              <a:t>07</a:t>
            </a:r>
            <a:endParaRPr lang="en-US" sz="6218" b="1" kern="0" spc="-4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214313" y="4735916"/>
            <a:ext cx="1571625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kern="0" spc="2" dirty="0">
                <a:solidFill>
                  <a:srgbClr val="F5F5F5">
                    <a:alpha val="80000"/>
                  </a:srgbClr>
                </a:solidFill>
              </a:rPr>
              <a:t>Principio Clave</a:t>
            </a:r>
            <a:endParaRPr lang="en-US" sz="942" dirty="0"/>
          </a:p>
        </p:txBody>
      </p:sp>
      <p:sp>
        <p:nvSpPr>
          <p:cNvPr id="7" name="Text 4"/>
          <p:cNvSpPr/>
          <p:nvPr/>
        </p:nvSpPr>
        <p:spPr>
          <a:xfrm>
            <a:off x="2571750" y="428625"/>
            <a:ext cx="6000750" cy="44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62" b="1" kern="0" spc="-1" dirty="0">
                <a:solidFill>
                  <a:srgbClr val="111111"/>
                </a:solidFill>
              </a:rPr>
              <a:t>PinA y PinB</a:t>
            </a:r>
            <a:endParaRPr lang="en-US" sz="2862" dirty="0"/>
          </a:p>
        </p:txBody>
      </p:sp>
      <p:sp>
        <p:nvSpPr>
          <p:cNvPr id="8" name="Text 5"/>
          <p:cNvSpPr/>
          <p:nvPr/>
        </p:nvSpPr>
        <p:spPr>
          <a:xfrm>
            <a:off x="2571750" y="940101"/>
            <a:ext cx="600075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44CC"/>
                </a:solidFill>
              </a:rPr>
              <a:t>Estrategia de Continuidad Operativa</a:t>
            </a:r>
            <a:endParaRPr lang="en-US" sz="1193" dirty="0"/>
          </a:p>
        </p:txBody>
      </p:sp>
      <p:sp>
        <p:nvSpPr>
          <p:cNvPr id="9" name="Shape 6"/>
          <p:cNvSpPr/>
          <p:nvPr/>
        </p:nvSpPr>
        <p:spPr>
          <a:xfrm>
            <a:off x="2728913" y="1538390"/>
            <a:ext cx="603089" cy="207169"/>
          </a:xfrm>
          <a:prstGeom prst="rect">
            <a:avLst/>
          </a:prstGeom>
          <a:solidFill>
            <a:srgbClr val="0044CC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Text 7"/>
          <p:cNvSpPr/>
          <p:nvPr/>
        </p:nvSpPr>
        <p:spPr>
          <a:xfrm>
            <a:off x="2728913" y="1538390"/>
            <a:ext cx="603089" cy="207169"/>
          </a:xfrm>
          <a:prstGeom prst="rect">
            <a:avLst/>
          </a:prstGeom>
          <a:noFill/>
          <a:ln/>
        </p:spPr>
        <p:txBody>
          <a:bodyPr wrap="square" lIns="127508" tIns="42545" rIns="127508" bIns="42545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5F5F5"/>
                </a:solidFill>
              </a:rPr>
              <a:t>Actual</a:t>
            </a:r>
            <a:endParaRPr lang="en-US" sz="683" dirty="0"/>
          </a:p>
        </p:txBody>
      </p:sp>
      <p:sp>
        <p:nvSpPr>
          <p:cNvPr id="11" name="Text 8"/>
          <p:cNvSpPr/>
          <p:nvPr/>
        </p:nvSpPr>
        <p:spPr>
          <a:xfrm>
            <a:off x="2800350" y="1931296"/>
            <a:ext cx="2400300" cy="3125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11111"/>
                </a:solidFill>
              </a:rPr>
              <a:t>Pin Activo (A)</a:t>
            </a:r>
            <a:endParaRPr lang="en-US" sz="1602" dirty="0"/>
          </a:p>
        </p:txBody>
      </p:sp>
      <p:sp>
        <p:nvSpPr>
          <p:cNvPr id="12" name="Text 9"/>
          <p:cNvSpPr/>
          <p:nvPr/>
        </p:nvSpPr>
        <p:spPr>
          <a:xfrm>
            <a:off x="2800350" y="2350991"/>
            <a:ext cx="24003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Es el pin que el servidor presenta hoy. La app lo valida y permite la conexión. Es la "llave" actual de la puerta.</a:t>
            </a:r>
            <a:endParaRPr lang="en-US" sz="942" dirty="0"/>
          </a:p>
        </p:txBody>
      </p:sp>
      <p:sp>
        <p:nvSpPr>
          <p:cNvPr id="13" name="Shape 10"/>
          <p:cNvSpPr/>
          <p:nvPr/>
        </p:nvSpPr>
        <p:spPr>
          <a:xfrm>
            <a:off x="5872163" y="1538390"/>
            <a:ext cx="623990" cy="207169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4" name="Text 11"/>
          <p:cNvSpPr/>
          <p:nvPr/>
        </p:nvSpPr>
        <p:spPr>
          <a:xfrm>
            <a:off x="5872163" y="1538390"/>
            <a:ext cx="623990" cy="207169"/>
          </a:xfrm>
          <a:prstGeom prst="rect">
            <a:avLst/>
          </a:prstGeom>
          <a:noFill/>
          <a:ln/>
        </p:spPr>
        <p:txBody>
          <a:bodyPr wrap="square" lIns="127508" tIns="42545" rIns="127508" bIns="42545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5F5F5"/>
                </a:solidFill>
              </a:rPr>
              <a:t>Futuro</a:t>
            </a:r>
            <a:endParaRPr lang="en-US" sz="683" dirty="0"/>
          </a:p>
        </p:txBody>
      </p:sp>
      <p:sp>
        <p:nvSpPr>
          <p:cNvPr id="15" name="Text 12"/>
          <p:cNvSpPr/>
          <p:nvPr/>
        </p:nvSpPr>
        <p:spPr>
          <a:xfrm>
            <a:off x="5943600" y="1931296"/>
            <a:ext cx="1880515" cy="2657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11111"/>
                </a:solidFill>
              </a:rPr>
              <a:t>Pin Respaldo (</a:t>
            </a:r>
            <a:r>
              <a:rPr lang="en-US" sz="1602" b="1">
                <a:solidFill>
                  <a:srgbClr val="111111"/>
                </a:solidFill>
              </a:rPr>
              <a:t>B) (C) …</a:t>
            </a:r>
            <a:endParaRPr lang="en-US" sz="1602" dirty="0"/>
          </a:p>
        </p:txBody>
      </p:sp>
      <p:sp>
        <p:nvSpPr>
          <p:cNvPr id="16" name="Text 13"/>
          <p:cNvSpPr/>
          <p:nvPr/>
        </p:nvSpPr>
        <p:spPr>
          <a:xfrm>
            <a:off x="5943600" y="2350991"/>
            <a:ext cx="24003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Es el pin del </a:t>
            </a:r>
            <a:r>
              <a:rPr lang="en-US" sz="942" i="1" dirty="0">
                <a:solidFill>
                  <a:srgbClr val="333333"/>
                </a:solidFill>
              </a:rPr>
              <a:t>siguiente</a:t>
            </a:r>
            <a:r>
              <a:rPr lang="en-US" sz="942" dirty="0">
                <a:solidFill>
                  <a:srgbClr val="333333"/>
                </a:solidFill>
              </a:rPr>
              <a:t> certificado. La app ya lo conoce y confía en él, aunque el servidor aún no lo use.</a:t>
            </a:r>
            <a:endParaRPr lang="en-US" sz="942" dirty="0"/>
          </a:p>
        </p:txBody>
      </p:sp>
      <p:sp>
        <p:nvSpPr>
          <p:cNvPr id="17" name="Shape 14"/>
          <p:cNvSpPr/>
          <p:nvPr/>
        </p:nvSpPr>
        <p:spPr>
          <a:xfrm>
            <a:off x="2571750" y="3443985"/>
            <a:ext cx="6000750" cy="1324077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8" name="Shape 15"/>
          <p:cNvSpPr/>
          <p:nvPr/>
        </p:nvSpPr>
        <p:spPr>
          <a:xfrm>
            <a:off x="2571750" y="3443985"/>
            <a:ext cx="71438" cy="1324077"/>
          </a:xfrm>
          <a:prstGeom prst="rect">
            <a:avLst/>
          </a:prstGeom>
          <a:solidFill>
            <a:srgbClr val="FF3300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6063" y="3678836"/>
            <a:ext cx="114300" cy="11430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2971800" y="3658298"/>
            <a:ext cx="83107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3300"/>
                </a:solidFill>
              </a:rPr>
              <a:t>Regla de Oro</a:t>
            </a:r>
            <a:endParaRPr lang="en-US" sz="784" dirty="0"/>
          </a:p>
        </p:txBody>
      </p:sp>
      <p:sp>
        <p:nvSpPr>
          <p:cNvPr id="21" name="Text 17"/>
          <p:cNvSpPr/>
          <p:nvPr/>
        </p:nvSpPr>
        <p:spPr>
          <a:xfrm>
            <a:off x="2786063" y="3885112"/>
            <a:ext cx="5572125" cy="668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93" b="1" dirty="0">
                <a:solidFill>
                  <a:srgbClr val="F5F5F5"/>
                </a:solidFill>
              </a:rPr>
              <a:t>Nunca lances una app con un solo pin. Sin PinB, cualquier rotación de emergencia o programada causará un Auto-DoS masivo.</a:t>
            </a:r>
            <a:endParaRPr lang="en-US" sz="1193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2000250" cy="51435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1"/>
          <p:cNvSpPr/>
          <p:nvPr/>
        </p:nvSpPr>
        <p:spPr>
          <a:xfrm>
            <a:off x="1971675" y="0"/>
            <a:ext cx="28575" cy="51435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214313" y="285750"/>
            <a:ext cx="806888" cy="7298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6218" b="1" kern="0" spc="-4">
                <a:solidFill>
                  <a:schemeClr val="accent2">
                    <a:lumMod val="75000"/>
                  </a:schemeClr>
                </a:solidFill>
              </a:rPr>
              <a:t>08</a:t>
            </a:r>
            <a:endParaRPr lang="en-US" sz="6218" b="1" kern="0" spc="-4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214313" y="4682728"/>
            <a:ext cx="1571625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kern="0" spc="2" dirty="0">
                <a:solidFill>
                  <a:srgbClr val="F5F5F5">
                    <a:alpha val="80000"/>
                  </a:srgbClr>
                </a:solidFill>
              </a:rPr>
              <a:t>Ciclo de Rotación</a:t>
            </a:r>
            <a:endParaRPr lang="en-US" sz="942" dirty="0"/>
          </a:p>
        </p:txBody>
      </p:sp>
      <p:sp>
        <p:nvSpPr>
          <p:cNvPr id="7" name="Text 4"/>
          <p:cNvSpPr/>
          <p:nvPr/>
        </p:nvSpPr>
        <p:spPr>
          <a:xfrm>
            <a:off x="2428875" y="285750"/>
            <a:ext cx="6286500" cy="44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62" b="1" kern="0" spc="-1" dirty="0">
                <a:solidFill>
                  <a:srgbClr val="111111"/>
                </a:solidFill>
              </a:rPr>
              <a:t>Ciclo de Rotación Seguro</a:t>
            </a:r>
            <a:endParaRPr lang="en-US" sz="2862" dirty="0"/>
          </a:p>
        </p:txBody>
      </p:sp>
      <p:sp>
        <p:nvSpPr>
          <p:cNvPr id="8" name="Text 5"/>
          <p:cNvSpPr/>
          <p:nvPr/>
        </p:nvSpPr>
        <p:spPr>
          <a:xfrm>
            <a:off x="2428875" y="797226"/>
            <a:ext cx="6286500" cy="2500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44CC"/>
                </a:solidFill>
              </a:rPr>
              <a:t>Estrategia de Solape (A → B → C)</a:t>
            </a:r>
            <a:endParaRPr lang="en-US" sz="1193" dirty="0"/>
          </a:p>
        </p:txBody>
      </p:sp>
      <p:sp>
        <p:nvSpPr>
          <p:cNvPr id="9" name="Shape 6"/>
          <p:cNvSpPr/>
          <p:nvPr/>
        </p:nvSpPr>
        <p:spPr>
          <a:xfrm>
            <a:off x="2428875" y="1630896"/>
            <a:ext cx="2514600" cy="2500313"/>
          </a:xfrm>
          <a:prstGeom prst="rect">
            <a:avLst/>
          </a:prstGeom>
          <a:solidFill>
            <a:srgbClr val="FFFFFF"/>
          </a:solidFill>
          <a:ln w="18288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0313" y="2218944"/>
            <a:ext cx="2371725" cy="132418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428875" y="4202646"/>
            <a:ext cx="2514600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>
              <a:lnSpc>
                <a:spcPts val="800"/>
              </a:lnSpc>
              <a:buNone/>
            </a:pPr>
            <a:r>
              <a:rPr lang="en-US" sz="621" dirty="0">
                <a:solidFill>
                  <a:srgbClr val="666666"/>
                </a:solidFill>
              </a:rPr>
              <a:t>FIG 07.1: CONTINUOUS ROTATION MODEL</a:t>
            </a:r>
            <a:endParaRPr lang="en-US" sz="621" dirty="0"/>
          </a:p>
        </p:txBody>
      </p:sp>
      <p:sp>
        <p:nvSpPr>
          <p:cNvPr id="12" name="Shape 8"/>
          <p:cNvSpPr/>
          <p:nvPr/>
        </p:nvSpPr>
        <p:spPr>
          <a:xfrm>
            <a:off x="2428875" y="4390169"/>
            <a:ext cx="2514600" cy="269677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" name="Text 9"/>
          <p:cNvSpPr/>
          <p:nvPr/>
        </p:nvSpPr>
        <p:spPr>
          <a:xfrm>
            <a:off x="2428875" y="4390169"/>
            <a:ext cx="2514600" cy="269677"/>
          </a:xfrm>
          <a:prstGeom prst="rect">
            <a:avLst/>
          </a:prstGeom>
          <a:noFill/>
          <a:ln/>
        </p:spPr>
        <p:txBody>
          <a:bodyPr wrap="square" lIns="85090" tIns="85090" rIns="85090" bIns="8509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674" dirty="0">
                <a:solidFill>
                  <a:srgbClr val="F5F5F5"/>
                </a:solidFill>
              </a:rPr>
              <a:t>OBJETIVO: 0% DOWNTIME</a:t>
            </a:r>
            <a:endParaRPr lang="en-US" sz="674" dirty="0"/>
          </a:p>
        </p:txBody>
      </p:sp>
      <p:sp>
        <p:nvSpPr>
          <p:cNvPr id="14" name="Shape 10"/>
          <p:cNvSpPr/>
          <p:nvPr/>
        </p:nvSpPr>
        <p:spPr>
          <a:xfrm>
            <a:off x="5200650" y="1468738"/>
            <a:ext cx="71438" cy="71438"/>
          </a:xfrm>
          <a:prstGeom prst="ellipse">
            <a:avLst/>
          </a:prstGeom>
          <a:solidFill>
            <a:srgbClr val="0044CC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5" name="Text 11"/>
          <p:cNvSpPr/>
          <p:nvPr/>
        </p:nvSpPr>
        <p:spPr>
          <a:xfrm>
            <a:off x="5457825" y="1433020"/>
            <a:ext cx="3257550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44CC"/>
                </a:solidFill>
              </a:rPr>
              <a:t>Fase 1 (T0) - Estado Inicial</a:t>
            </a:r>
            <a:endParaRPr lang="en-US" sz="683" dirty="0"/>
          </a:p>
        </p:txBody>
      </p:sp>
      <p:sp>
        <p:nvSpPr>
          <p:cNvPr id="16" name="Text 12"/>
          <p:cNvSpPr/>
          <p:nvPr/>
        </p:nvSpPr>
        <p:spPr>
          <a:xfrm>
            <a:off x="5457825" y="1597326"/>
            <a:ext cx="3257550" cy="2971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App distribuida con </a:t>
            </a:r>
            <a:r>
              <a:rPr lang="en-US" sz="784" b="1" dirty="0">
                <a:solidFill>
                  <a:srgbClr val="111111"/>
                </a:solidFill>
              </a:rPr>
              <a:t>{PinA, PinB}</a:t>
            </a:r>
            <a:r>
              <a:rPr lang="en-US" sz="834" dirty="0">
                <a:solidFill>
                  <a:srgbClr val="333333"/>
                </a:solidFill>
              </a:rPr>
              <a:t>.
 Backend utiliza certificado con </a:t>
            </a:r>
            <a:r>
              <a:rPr lang="en-US" sz="784" b="1" dirty="0">
                <a:solidFill>
                  <a:srgbClr val="111111"/>
                </a:solidFill>
              </a:rPr>
              <a:t>KeyA</a:t>
            </a:r>
            <a:r>
              <a:rPr lang="en-US" sz="834" dirty="0">
                <a:solidFill>
                  <a:srgbClr val="333333"/>
                </a:solidFill>
              </a:rPr>
              <a:t>.</a:t>
            </a:r>
            <a:endParaRPr lang="en-US" sz="834" dirty="0"/>
          </a:p>
        </p:txBody>
      </p:sp>
      <p:sp>
        <p:nvSpPr>
          <p:cNvPr id="17" name="Shape 13"/>
          <p:cNvSpPr/>
          <p:nvPr/>
        </p:nvSpPr>
        <p:spPr>
          <a:xfrm>
            <a:off x="5200650" y="2182750"/>
            <a:ext cx="71438" cy="71438"/>
          </a:xfrm>
          <a:prstGeom prst="ellipse">
            <a:avLst/>
          </a:prstGeom>
          <a:solidFill>
            <a:srgbClr val="0044CC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8" name="Text 14"/>
          <p:cNvSpPr/>
          <p:nvPr/>
        </p:nvSpPr>
        <p:spPr>
          <a:xfrm>
            <a:off x="5457825" y="2147032"/>
            <a:ext cx="3257550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44CC"/>
                </a:solidFill>
              </a:rPr>
              <a:t>Fase 2 (T1) - Preparación</a:t>
            </a:r>
            <a:endParaRPr lang="en-US" sz="683" dirty="0"/>
          </a:p>
        </p:txBody>
      </p:sp>
      <p:sp>
        <p:nvSpPr>
          <p:cNvPr id="19" name="Text 15"/>
          <p:cNvSpPr/>
          <p:nvPr/>
        </p:nvSpPr>
        <p:spPr>
          <a:xfrm>
            <a:off x="5457825" y="2311338"/>
            <a:ext cx="3257550" cy="2971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Backend genera certificado con </a:t>
            </a:r>
            <a:r>
              <a:rPr lang="en-US" sz="784" b="1" dirty="0">
                <a:solidFill>
                  <a:srgbClr val="111111"/>
                </a:solidFill>
              </a:rPr>
              <a:t>KeyB</a:t>
            </a:r>
            <a:r>
              <a:rPr lang="en-US" sz="834" dirty="0">
                <a:solidFill>
                  <a:srgbClr val="333333"/>
                </a:solidFill>
              </a:rPr>
              <a:t>.
 App valida correctamente porque conoce PinB.</a:t>
            </a:r>
            <a:endParaRPr lang="en-US" sz="834" dirty="0"/>
          </a:p>
        </p:txBody>
      </p:sp>
      <p:sp>
        <p:nvSpPr>
          <p:cNvPr id="20" name="Shape 16"/>
          <p:cNvSpPr/>
          <p:nvPr/>
        </p:nvSpPr>
        <p:spPr>
          <a:xfrm>
            <a:off x="5200650" y="2896763"/>
            <a:ext cx="71438" cy="71438"/>
          </a:xfrm>
          <a:prstGeom prst="ellipse">
            <a:avLst/>
          </a:prstGeom>
          <a:solidFill>
            <a:srgbClr val="0044CC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1" name="Text 17"/>
          <p:cNvSpPr/>
          <p:nvPr/>
        </p:nvSpPr>
        <p:spPr>
          <a:xfrm>
            <a:off x="5457825" y="2861044"/>
            <a:ext cx="3257550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44CC"/>
                </a:solidFill>
              </a:rPr>
              <a:t>Fase 3 (T2) - Rotación</a:t>
            </a:r>
            <a:endParaRPr lang="en-US" sz="683" dirty="0"/>
          </a:p>
        </p:txBody>
      </p:sp>
      <p:sp>
        <p:nvSpPr>
          <p:cNvPr id="22" name="Text 18"/>
          <p:cNvSpPr/>
          <p:nvPr/>
        </p:nvSpPr>
        <p:spPr>
          <a:xfrm>
            <a:off x="5457825" y="3025350"/>
            <a:ext cx="3257550" cy="2971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Backend cambia a certificado </a:t>
            </a:r>
            <a:r>
              <a:rPr lang="en-US" sz="784" b="1" dirty="0">
                <a:solidFill>
                  <a:srgbClr val="111111"/>
                </a:solidFill>
              </a:rPr>
              <a:t>KeyB</a:t>
            </a:r>
            <a:r>
              <a:rPr lang="en-US" sz="834" dirty="0">
                <a:solidFill>
                  <a:srgbClr val="333333"/>
                </a:solidFill>
              </a:rPr>
              <a:t>.
 Conexiones exitosas (PinB es válido).</a:t>
            </a:r>
            <a:endParaRPr lang="en-US" sz="834" dirty="0"/>
          </a:p>
        </p:txBody>
      </p:sp>
      <p:sp>
        <p:nvSpPr>
          <p:cNvPr id="23" name="Shape 19"/>
          <p:cNvSpPr/>
          <p:nvPr/>
        </p:nvSpPr>
        <p:spPr>
          <a:xfrm>
            <a:off x="5200650" y="3610775"/>
            <a:ext cx="71438" cy="71438"/>
          </a:xfrm>
          <a:prstGeom prst="ellipse">
            <a:avLst/>
          </a:prstGeom>
          <a:solidFill>
            <a:srgbClr val="0044CC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4" name="Text 20"/>
          <p:cNvSpPr/>
          <p:nvPr/>
        </p:nvSpPr>
        <p:spPr>
          <a:xfrm>
            <a:off x="5457825" y="3575056"/>
            <a:ext cx="3257550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44CC"/>
                </a:solidFill>
              </a:rPr>
              <a:t>Fase 4 (T3) - Actualización App</a:t>
            </a:r>
            <a:endParaRPr lang="en-US" sz="683" dirty="0"/>
          </a:p>
        </p:txBody>
      </p:sp>
      <p:sp>
        <p:nvSpPr>
          <p:cNvPr id="25" name="Text 21"/>
          <p:cNvSpPr/>
          <p:nvPr/>
        </p:nvSpPr>
        <p:spPr>
          <a:xfrm>
            <a:off x="5457825" y="3739362"/>
            <a:ext cx="3257550" cy="2971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Nueva versión de App incluye </a:t>
            </a:r>
            <a:r>
              <a:rPr lang="en-US" sz="784" b="1" dirty="0">
                <a:solidFill>
                  <a:srgbClr val="111111"/>
                </a:solidFill>
              </a:rPr>
              <a:t>{PinB, PinC}</a:t>
            </a:r>
            <a:r>
              <a:rPr lang="en-US" sz="834" dirty="0">
                <a:solidFill>
                  <a:srgbClr val="333333"/>
                </a:solidFill>
              </a:rPr>
              <a:t>.
 PinC es el nuevo backup para el siguiente ciclo.</a:t>
            </a:r>
            <a:endParaRPr lang="en-US" sz="834" dirty="0"/>
          </a:p>
        </p:txBody>
      </p:sp>
      <p:sp>
        <p:nvSpPr>
          <p:cNvPr id="26" name="Shape 22"/>
          <p:cNvSpPr/>
          <p:nvPr/>
        </p:nvSpPr>
        <p:spPr>
          <a:xfrm>
            <a:off x="5200650" y="4324787"/>
            <a:ext cx="71438" cy="71438"/>
          </a:xfrm>
          <a:prstGeom prst="ellipse">
            <a:avLst/>
          </a:prstGeom>
          <a:solidFill>
            <a:srgbClr val="0044CC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7" name="Text 23"/>
          <p:cNvSpPr/>
          <p:nvPr/>
        </p:nvSpPr>
        <p:spPr>
          <a:xfrm>
            <a:off x="5457825" y="4289068"/>
            <a:ext cx="3257550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44CC"/>
                </a:solidFill>
              </a:rPr>
              <a:t>Fase 5 (T4) - Retiro</a:t>
            </a:r>
            <a:endParaRPr lang="en-US" sz="683" dirty="0"/>
          </a:p>
        </p:txBody>
      </p:sp>
      <p:sp>
        <p:nvSpPr>
          <p:cNvPr id="28" name="Text 24"/>
          <p:cNvSpPr/>
          <p:nvPr/>
        </p:nvSpPr>
        <p:spPr>
          <a:xfrm>
            <a:off x="5457825" y="4453375"/>
            <a:ext cx="3257550" cy="2971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Se retira soporte para </a:t>
            </a:r>
            <a:r>
              <a:rPr lang="en-US" sz="784" b="1" dirty="0">
                <a:solidFill>
                  <a:srgbClr val="111111"/>
                </a:solidFill>
              </a:rPr>
              <a:t>PinA</a:t>
            </a:r>
            <a:r>
              <a:rPr lang="en-US" sz="834" dirty="0">
                <a:solidFill>
                  <a:srgbClr val="333333"/>
                </a:solidFill>
              </a:rPr>
              <a:t>.
 El ciclo se repite: B es activo, C es backup.</a:t>
            </a:r>
            <a:endParaRPr lang="en-US" sz="834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7414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2000250" cy="51435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1"/>
          <p:cNvSpPr/>
          <p:nvPr/>
        </p:nvSpPr>
        <p:spPr>
          <a:xfrm>
            <a:off x="1971675" y="0"/>
            <a:ext cx="28575" cy="51435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142875" y="285750"/>
            <a:ext cx="806888" cy="7298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6218" b="1" kern="0" spc="-4">
                <a:solidFill>
                  <a:schemeClr val="accent2">
                    <a:lumMod val="75000"/>
                  </a:schemeClr>
                </a:solidFill>
              </a:rPr>
              <a:t>09</a:t>
            </a:r>
            <a:endParaRPr lang="en-US" sz="6218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142875" y="4825603"/>
            <a:ext cx="1714500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kern="0" spc="2" dirty="0">
                <a:solidFill>
                  <a:srgbClr val="F5F5F5">
                    <a:alpha val="80000"/>
                  </a:srgbClr>
                </a:solidFill>
              </a:rPr>
              <a:t>Android NSC</a:t>
            </a:r>
            <a:endParaRPr lang="en-US" sz="942" dirty="0"/>
          </a:p>
        </p:txBody>
      </p:sp>
      <p:sp>
        <p:nvSpPr>
          <p:cNvPr id="7" name="Text 4"/>
          <p:cNvSpPr/>
          <p:nvPr/>
        </p:nvSpPr>
        <p:spPr>
          <a:xfrm>
            <a:off x="2428875" y="285750"/>
            <a:ext cx="6286500" cy="37716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36" b="1" kern="0" spc="-1" dirty="0">
                <a:solidFill>
                  <a:srgbClr val="111111"/>
                </a:solidFill>
              </a:rPr>
              <a:t>Android: Enfoque Recomendado</a:t>
            </a:r>
            <a:endParaRPr lang="en-US" sz="2436" dirty="0"/>
          </a:p>
        </p:txBody>
      </p:sp>
      <p:sp>
        <p:nvSpPr>
          <p:cNvPr id="8" name="Text 5"/>
          <p:cNvSpPr/>
          <p:nvPr/>
        </p:nvSpPr>
        <p:spPr>
          <a:xfrm>
            <a:off x="2428875" y="734355"/>
            <a:ext cx="6286500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44CC"/>
                </a:solidFill>
              </a:rPr>
              <a:t>Network Security Configuration (NSC)</a:t>
            </a:r>
            <a:endParaRPr lang="en-US" sz="987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8875" y="1214772"/>
            <a:ext cx="96441" cy="1285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611041" y="1186197"/>
            <a:ext cx="2875359" cy="540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85" b="1" dirty="0">
                <a:solidFill>
                  <a:srgbClr val="111111"/>
                </a:solidFill>
              </a:rPr>
              <a:t>Declarativo (XML)</a:t>
            </a:r>
            <a:r>
              <a:rPr lang="en-US" sz="942" dirty="0">
                <a:solidFill>
                  <a:srgbClr val="111111"/>
                </a:solidFill>
              </a:rPr>
              <a:t>
Configuración separada del código, reduciendo errores de implementación.</a:t>
            </a:r>
            <a:endParaRPr lang="en-US" sz="885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8875" y="1840548"/>
            <a:ext cx="128588" cy="12858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643188" y="1811973"/>
            <a:ext cx="2843213" cy="540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85" b="1" dirty="0">
                <a:solidFill>
                  <a:srgbClr val="111111"/>
                </a:solidFill>
              </a:rPr>
              <a:t>Soporte Multi-Pin</a:t>
            </a:r>
            <a:r>
              <a:rPr lang="en-US" sz="942" dirty="0">
                <a:solidFill>
                  <a:srgbClr val="111111"/>
                </a:solidFill>
              </a:rPr>
              <a:t>
Nativo para definir PinA (Activo) y PinB (Backup).</a:t>
            </a:r>
            <a:endParaRPr lang="en-US" sz="885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8875" y="2466324"/>
            <a:ext cx="96441" cy="12858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2611041" y="2437749"/>
            <a:ext cx="2875359" cy="540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85" b="1" dirty="0">
                <a:solidFill>
                  <a:srgbClr val="111111"/>
                </a:solidFill>
              </a:rPr>
              <a:t>Expiración de Pin-Set</a:t>
            </a:r>
            <a:r>
              <a:rPr lang="en-US" sz="942" dirty="0">
                <a:solidFill>
                  <a:srgbClr val="111111"/>
                </a:solidFill>
              </a:rPr>
              <a:t>
Fuerza la revisión periódica y evita bloqueos eternos.</a:t>
            </a:r>
            <a:endParaRPr lang="en-US" sz="885" dirty="0"/>
          </a:p>
        </p:txBody>
      </p:sp>
      <p:sp>
        <p:nvSpPr>
          <p:cNvPr id="15" name="Shape 9"/>
          <p:cNvSpPr/>
          <p:nvPr/>
        </p:nvSpPr>
        <p:spPr>
          <a:xfrm>
            <a:off x="2428875" y="3192474"/>
            <a:ext cx="3057525" cy="1343807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r>
              <a:rPr lang="es-CL" sz="700">
                <a:solidFill>
                  <a:schemeClr val="accent2">
                    <a:lumMod val="75000"/>
                  </a:schemeClr>
                </a:solidFill>
              </a:rPr>
              <a:t>&lt;?xml version="1.0" encoding="utf-8"?&gt;</a:t>
            </a:r>
          </a:p>
          <a:p>
            <a:r>
              <a:rPr lang="es-CL" sz="700">
                <a:solidFill>
                  <a:schemeClr val="accent2">
                    <a:lumMod val="75000"/>
                  </a:schemeClr>
                </a:solidFill>
              </a:rPr>
              <a:t>&lt;network-security-config&gt;</a:t>
            </a:r>
          </a:p>
          <a:p>
            <a:r>
              <a:rPr lang="es-CL" sz="700">
                <a:solidFill>
                  <a:schemeClr val="accent2">
                    <a:lumMod val="75000"/>
                  </a:schemeClr>
                </a:solidFill>
              </a:rPr>
              <a:t>  &lt;domain-config cleartextTrafficPermitted="false"&gt;</a:t>
            </a:r>
          </a:p>
          <a:p>
            <a:r>
              <a:rPr lang="es-CL" sz="700">
                <a:solidFill>
                  <a:schemeClr val="accent2">
                    <a:lumMod val="75000"/>
                  </a:schemeClr>
                </a:solidFill>
              </a:rPr>
              <a:t>    &lt;domain includeSubdomains="true"&gt;api.banco.com&lt;/domain&gt;</a:t>
            </a:r>
          </a:p>
          <a:p>
            <a:r>
              <a:rPr lang="es-CL" sz="700">
                <a:solidFill>
                  <a:schemeClr val="accent2">
                    <a:lumMod val="75000"/>
                  </a:schemeClr>
                </a:solidFill>
              </a:rPr>
              <a:t>    &lt;pin-set expiration="2026-12-31"&gt;</a:t>
            </a:r>
          </a:p>
          <a:p>
            <a:r>
              <a:rPr lang="es-CL" sz="700">
                <a:solidFill>
                  <a:schemeClr val="accent2">
                    <a:lumMod val="75000"/>
                  </a:schemeClr>
                </a:solidFill>
              </a:rPr>
              <a:t>      &lt;!-- Pin A: Activo --&gt;</a:t>
            </a:r>
          </a:p>
          <a:p>
            <a:r>
              <a:rPr lang="es-CL" sz="700">
                <a:solidFill>
                  <a:schemeClr val="accent2">
                    <a:lumMod val="75000"/>
                  </a:schemeClr>
                </a:solidFill>
              </a:rPr>
              <a:t>      &lt;pin digest="</a:t>
            </a:r>
            <a:r>
              <a:rPr lang="es-CL" sz="700">
                <a:solidFill>
                  <a:srgbClr val="00B050"/>
                </a:solidFill>
              </a:rPr>
              <a:t>SHA-256</a:t>
            </a:r>
            <a:r>
              <a:rPr lang="es-CL" sz="700">
                <a:solidFill>
                  <a:schemeClr val="accent2">
                    <a:lumMod val="75000"/>
                  </a:schemeClr>
                </a:solidFill>
              </a:rPr>
              <a:t>"&gt;7HlpUjXmFgq...&lt;/pin&gt;</a:t>
            </a:r>
          </a:p>
          <a:p>
            <a:r>
              <a:rPr lang="es-CL" sz="700">
                <a:solidFill>
                  <a:schemeClr val="accent2">
                    <a:lumMod val="75000"/>
                  </a:schemeClr>
                </a:solidFill>
              </a:rPr>
              <a:t>      &lt;!-- Pin B: Backup --&gt;</a:t>
            </a:r>
          </a:p>
          <a:p>
            <a:r>
              <a:rPr lang="es-CL" sz="700">
                <a:solidFill>
                  <a:schemeClr val="accent2">
                    <a:lumMod val="75000"/>
                  </a:schemeClr>
                </a:solidFill>
              </a:rPr>
              <a:t>      &lt;pin digest="</a:t>
            </a:r>
            <a:r>
              <a:rPr lang="es-CL" sz="700">
                <a:solidFill>
                  <a:srgbClr val="00B050"/>
                </a:solidFill>
              </a:rPr>
              <a:t>SHA-256</a:t>
            </a:r>
            <a:r>
              <a:rPr lang="es-CL" sz="700">
                <a:solidFill>
                  <a:schemeClr val="accent2">
                    <a:lumMod val="75000"/>
                  </a:schemeClr>
                </a:solidFill>
              </a:rPr>
              <a:t>"&gt;9JKLOpQvTrs...&lt;/pin&gt;</a:t>
            </a:r>
          </a:p>
          <a:p>
            <a:r>
              <a:rPr lang="es-CL" sz="700">
                <a:solidFill>
                  <a:schemeClr val="accent2">
                    <a:lumMod val="75000"/>
                  </a:schemeClr>
                </a:solidFill>
              </a:rPr>
              <a:t>    &lt;/pin-set&gt;</a:t>
            </a:r>
          </a:p>
          <a:p>
            <a:r>
              <a:rPr lang="es-CL" sz="700">
                <a:solidFill>
                  <a:schemeClr val="accent2">
                    <a:lumMod val="75000"/>
                  </a:schemeClr>
                </a:solidFill>
              </a:rPr>
              <a:t>  &lt;/domain-config&gt;</a:t>
            </a:r>
          </a:p>
          <a:p>
            <a:r>
              <a:rPr lang="es-CL" sz="700">
                <a:solidFill>
                  <a:schemeClr val="accent2">
                    <a:lumMod val="75000"/>
                  </a:schemeClr>
                </a:solidFill>
              </a:rPr>
              <a:t>&lt;/network-security-config&gt;</a:t>
            </a:r>
          </a:p>
        </p:txBody>
      </p:sp>
      <p:sp>
        <p:nvSpPr>
          <p:cNvPr id="16" name="Shape 10"/>
          <p:cNvSpPr/>
          <p:nvPr/>
        </p:nvSpPr>
        <p:spPr>
          <a:xfrm>
            <a:off x="2428875" y="3192112"/>
            <a:ext cx="96441" cy="1344169"/>
          </a:xfrm>
          <a:prstGeom prst="rect">
            <a:avLst/>
          </a:prstGeom>
          <a:solidFill>
            <a:srgbClr val="0044CC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7" name="Shape 11"/>
          <p:cNvSpPr/>
          <p:nvPr/>
        </p:nvSpPr>
        <p:spPr>
          <a:xfrm>
            <a:off x="3938946" y="3109247"/>
            <a:ext cx="1492633" cy="165729"/>
          </a:xfrm>
          <a:prstGeom prst="rect">
            <a:avLst/>
          </a:prstGeom>
          <a:solidFill>
            <a:srgbClr val="0044CC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8" name="Text 12"/>
          <p:cNvSpPr/>
          <p:nvPr/>
        </p:nvSpPr>
        <p:spPr>
          <a:xfrm>
            <a:off x="3938946" y="3095987"/>
            <a:ext cx="1718904" cy="165729"/>
          </a:xfrm>
          <a:prstGeom prst="rect">
            <a:avLst/>
          </a:prstGeom>
          <a:noFill/>
          <a:ln/>
        </p:spPr>
        <p:txBody>
          <a:bodyPr wrap="square" lIns="85090" tIns="17018" rIns="85090" bIns="17018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00" b="1" dirty="0">
                <a:solidFill>
                  <a:srgbClr val="FFFFFF"/>
                </a:solidFill>
              </a:rPr>
              <a:t>network_security_config.xml</a:t>
            </a:r>
            <a:endParaRPr lang="en-US" sz="800" dirty="0"/>
          </a:p>
        </p:txBody>
      </p:sp>
      <p:sp>
        <p:nvSpPr>
          <p:cNvPr id="25" name="Shape 19"/>
          <p:cNvSpPr/>
          <p:nvPr/>
        </p:nvSpPr>
        <p:spPr>
          <a:xfrm>
            <a:off x="5657850" y="1186197"/>
            <a:ext cx="3057525" cy="3814428"/>
          </a:xfrm>
          <a:prstGeom prst="rect">
            <a:avLst/>
          </a:prstGeom>
          <a:solidFill>
            <a:srgbClr val="FFFFFF"/>
          </a:solidFill>
          <a:ln w="18288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0" y="1243347"/>
            <a:ext cx="2943225" cy="329293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715000" y="4622006"/>
            <a:ext cx="2943225" cy="321469"/>
          </a:xfrm>
          <a:prstGeom prst="rect">
            <a:avLst/>
          </a:prstGeom>
          <a:noFill/>
          <a:ln/>
        </p:spPr>
        <p:txBody>
          <a:bodyPr wrap="square" lIns="0" tIns="51054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666666"/>
                </a:solidFill>
              </a:rPr>
              <a:t>&gt; NOTA: Usar OkHttp CertificatePinner solo para casos avanzados (multi-stack).</a:t>
            </a:r>
            <a:endParaRPr lang="en-US" sz="727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2000250" cy="51435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1"/>
          <p:cNvSpPr/>
          <p:nvPr/>
        </p:nvSpPr>
        <p:spPr>
          <a:xfrm>
            <a:off x="1971675" y="0"/>
            <a:ext cx="28575" cy="51435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214313" y="285750"/>
            <a:ext cx="806888" cy="7298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6218" b="1" kern="0" spc="-4">
                <a:solidFill>
                  <a:schemeClr val="accent2">
                    <a:lumMod val="75000"/>
                  </a:schemeClr>
                </a:solidFill>
              </a:rPr>
              <a:t>10</a:t>
            </a:r>
            <a:endParaRPr lang="en-US" sz="6218" b="1" kern="0" spc="-4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214313" y="1057275"/>
            <a:ext cx="671530" cy="1472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kern="0" spc="2" dirty="0">
                <a:solidFill>
                  <a:schemeClr val="accent2">
                    <a:lumMod val="75000"/>
                  </a:schemeClr>
                </a:solidFill>
              </a:rPr>
              <a:t>iOS Approach</a:t>
            </a:r>
            <a:endParaRPr lang="en-US" sz="942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2428875" y="285750"/>
            <a:ext cx="6286500" cy="44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62" b="1" kern="0" spc="-1" dirty="0">
                <a:solidFill>
                  <a:srgbClr val="111111"/>
                </a:solidFill>
              </a:rPr>
              <a:t>iOS: Enfoque Recomendado</a:t>
            </a:r>
            <a:endParaRPr lang="en-US" sz="2862" dirty="0"/>
          </a:p>
        </p:txBody>
      </p:sp>
      <p:sp>
        <p:nvSpPr>
          <p:cNvPr id="8" name="Text 5"/>
          <p:cNvSpPr/>
          <p:nvPr/>
        </p:nvSpPr>
        <p:spPr>
          <a:xfrm>
            <a:off x="2428875" y="797226"/>
            <a:ext cx="62865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44CC"/>
                </a:solidFill>
              </a:rPr>
              <a:t>Validación Explícita en URLSession</a:t>
            </a:r>
            <a:endParaRPr lang="en-US" sz="1193" dirty="0"/>
          </a:p>
        </p:txBody>
      </p:sp>
      <p:sp>
        <p:nvSpPr>
          <p:cNvPr id="10" name="Text 7"/>
          <p:cNvSpPr/>
          <p:nvPr/>
        </p:nvSpPr>
        <p:spPr>
          <a:xfrm>
            <a:off x="2786063" y="1202634"/>
            <a:ext cx="3311826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111111"/>
                </a:solidFill>
              </a:rPr>
              <a:t>Interceptar Desafío</a:t>
            </a:r>
            <a:endParaRPr lang="en-US" sz="987" dirty="0"/>
          </a:p>
        </p:txBody>
      </p:sp>
      <p:sp>
        <p:nvSpPr>
          <p:cNvPr id="11" name="Text 8"/>
          <p:cNvSpPr/>
          <p:nvPr/>
        </p:nvSpPr>
        <p:spPr>
          <a:xfrm>
            <a:off x="2786063" y="1433020"/>
            <a:ext cx="3311826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Implementar URLSessionDelegate para capturar el desafío de autenticación del servidor.</a:t>
            </a:r>
            <a:endParaRPr lang="en-US" sz="834" dirty="0"/>
          </a:p>
        </p:txBody>
      </p:sp>
      <p:sp>
        <p:nvSpPr>
          <p:cNvPr id="13" name="Text 10"/>
          <p:cNvSpPr/>
          <p:nvPr/>
        </p:nvSpPr>
        <p:spPr>
          <a:xfrm>
            <a:off x="2786063" y="1838762"/>
            <a:ext cx="3311826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111111"/>
                </a:solidFill>
              </a:rPr>
              <a:t>Evaluar Trust Estándar</a:t>
            </a:r>
            <a:endParaRPr lang="en-US" sz="987" dirty="0"/>
          </a:p>
        </p:txBody>
      </p:sp>
      <p:sp>
        <p:nvSpPr>
          <p:cNvPr id="14" name="Text 11"/>
          <p:cNvSpPr/>
          <p:nvPr/>
        </p:nvSpPr>
        <p:spPr>
          <a:xfrm>
            <a:off x="2786063" y="2069148"/>
            <a:ext cx="3311826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Validar la cadena de certificados normalmente usando las APIs del sistema. No inventar un trust alternativo.</a:t>
            </a:r>
            <a:endParaRPr lang="en-US" sz="834" dirty="0"/>
          </a:p>
        </p:txBody>
      </p:sp>
      <p:sp>
        <p:nvSpPr>
          <p:cNvPr id="16" name="Text 13"/>
          <p:cNvSpPr/>
          <p:nvPr/>
        </p:nvSpPr>
        <p:spPr>
          <a:xfrm>
            <a:off x="2786063" y="2474891"/>
            <a:ext cx="3311826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111111"/>
                </a:solidFill>
              </a:rPr>
              <a:t>Extraer Public Key</a:t>
            </a:r>
            <a:endParaRPr lang="en-US" sz="987" dirty="0"/>
          </a:p>
        </p:txBody>
      </p:sp>
      <p:sp>
        <p:nvSpPr>
          <p:cNvPr id="17" name="Text 14"/>
          <p:cNvSpPr/>
          <p:nvPr/>
        </p:nvSpPr>
        <p:spPr>
          <a:xfrm>
            <a:off x="2786063" y="2705277"/>
            <a:ext cx="3311826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Obtener la clave pública del certificado leaf (o intermedio si aplica).</a:t>
            </a:r>
            <a:endParaRPr lang="en-US" sz="834" dirty="0"/>
          </a:p>
        </p:txBody>
      </p:sp>
      <p:sp>
        <p:nvSpPr>
          <p:cNvPr id="19" name="Text 16"/>
          <p:cNvSpPr/>
          <p:nvPr/>
        </p:nvSpPr>
        <p:spPr>
          <a:xfrm>
            <a:off x="2786063" y="3111019"/>
            <a:ext cx="3311826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111111"/>
                </a:solidFill>
              </a:rPr>
              <a:t>Comparar SPKI Hash</a:t>
            </a:r>
            <a:endParaRPr lang="en-US" sz="987" dirty="0"/>
          </a:p>
        </p:txBody>
      </p:sp>
      <p:sp>
        <p:nvSpPr>
          <p:cNvPr id="20" name="Text 17"/>
          <p:cNvSpPr/>
          <p:nvPr/>
        </p:nvSpPr>
        <p:spPr>
          <a:xfrm>
            <a:off x="2786063" y="3341405"/>
            <a:ext cx="3311826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Calcular SHA-256 de la clave pública y comparar contra los pins permitidos (A y B).</a:t>
            </a:r>
            <a:endParaRPr lang="en-US" sz="834" dirty="0"/>
          </a:p>
        </p:txBody>
      </p:sp>
      <p:sp>
        <p:nvSpPr>
          <p:cNvPr id="22" name="Text 19"/>
          <p:cNvSpPr/>
          <p:nvPr/>
        </p:nvSpPr>
        <p:spPr>
          <a:xfrm>
            <a:off x="2786063" y="3747148"/>
            <a:ext cx="3311826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111111"/>
                </a:solidFill>
              </a:rPr>
              <a:t>Decisión Final</a:t>
            </a:r>
            <a:endParaRPr lang="en-US" sz="987" dirty="0"/>
          </a:p>
        </p:txBody>
      </p:sp>
      <p:sp>
        <p:nvSpPr>
          <p:cNvPr id="23" name="Text 20"/>
          <p:cNvSpPr/>
          <p:nvPr/>
        </p:nvSpPr>
        <p:spPr>
          <a:xfrm>
            <a:off x="2786063" y="3977534"/>
            <a:ext cx="3311826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Rechazar explícitamente la conexión si no hay coincidencia de pin.</a:t>
            </a:r>
            <a:endParaRPr lang="en-US" sz="834" dirty="0"/>
          </a:p>
        </p:txBody>
      </p:sp>
      <p:sp>
        <p:nvSpPr>
          <p:cNvPr id="24" name="Shape 21"/>
          <p:cNvSpPr/>
          <p:nvPr/>
        </p:nvSpPr>
        <p:spPr>
          <a:xfrm>
            <a:off x="6269338" y="1202633"/>
            <a:ext cx="2446037" cy="1019019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5" name="Shape 22"/>
          <p:cNvSpPr/>
          <p:nvPr/>
        </p:nvSpPr>
        <p:spPr>
          <a:xfrm>
            <a:off x="6269338" y="1202634"/>
            <a:ext cx="42863" cy="787598"/>
          </a:xfrm>
          <a:prstGeom prst="rect">
            <a:avLst/>
          </a:prstGeom>
          <a:solidFill>
            <a:srgbClr val="0044CC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6" name="Text 23"/>
          <p:cNvSpPr/>
          <p:nvPr/>
        </p:nvSpPr>
        <p:spPr>
          <a:xfrm>
            <a:off x="6397926" y="1331221"/>
            <a:ext cx="1049967" cy="1040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800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API Recomendada (2026)</a:t>
            </a:r>
          </a:p>
        </p:txBody>
      </p:sp>
      <p:sp>
        <p:nvSpPr>
          <p:cNvPr id="27" name="Text 24"/>
          <p:cNvSpPr/>
          <p:nvPr/>
        </p:nvSpPr>
        <p:spPr>
          <a:xfrm>
            <a:off x="6397926" y="1518745"/>
            <a:ext cx="2188862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00FF00"/>
                </a:solidFill>
              </a:rPr>
              <a:t>SecTrustEvaluateWithError</a:t>
            </a:r>
            <a:endParaRPr lang="en-US" sz="834" dirty="0"/>
          </a:p>
        </p:txBody>
      </p:sp>
      <p:sp>
        <p:nvSpPr>
          <p:cNvPr id="28" name="Text 25"/>
          <p:cNvSpPr/>
          <p:nvPr/>
        </p:nvSpPr>
        <p:spPr>
          <a:xfrm>
            <a:off x="6397926" y="1745559"/>
            <a:ext cx="1809791" cy="1040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621" dirty="0">
                <a:solidFill>
                  <a:srgbClr val="888888"/>
                </a:solidFill>
              </a:rPr>
              <a:t>(</a:t>
            </a:r>
            <a:r>
              <a:rPr lang="en-US" sz="800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Reemplaza al deprecado SecTrustEvaluate</a:t>
            </a:r>
            <a:r>
              <a:rPr lang="en-US" sz="621" dirty="0">
                <a:solidFill>
                  <a:srgbClr val="888888"/>
                </a:solidFill>
              </a:rPr>
              <a:t>)</a:t>
            </a:r>
            <a:endParaRPr lang="en-US" sz="621" dirty="0"/>
          </a:p>
        </p:txBody>
      </p:sp>
      <p:sp>
        <p:nvSpPr>
          <p:cNvPr id="29" name="Shape 26"/>
          <p:cNvSpPr/>
          <p:nvPr/>
        </p:nvSpPr>
        <p:spPr>
          <a:xfrm>
            <a:off x="6269338" y="3124972"/>
            <a:ext cx="2446037" cy="1163315"/>
          </a:xfrm>
          <a:prstGeom prst="rect">
            <a:avLst/>
          </a:prstGeom>
          <a:solidFill>
            <a:srgbClr val="FFFFFF"/>
          </a:solidFill>
          <a:ln w="27432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3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7752" y="3234248"/>
            <a:ext cx="142875" cy="142875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6752997" y="3208352"/>
            <a:ext cx="1125727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F3300"/>
                </a:solidFill>
              </a:rPr>
              <a:t>Punto Crítico</a:t>
            </a:r>
            <a:endParaRPr lang="en-US" sz="987" dirty="0"/>
          </a:p>
        </p:txBody>
      </p:sp>
      <p:sp>
        <p:nvSpPr>
          <p:cNvPr id="32" name="Text 28"/>
          <p:cNvSpPr/>
          <p:nvPr/>
        </p:nvSpPr>
        <p:spPr>
          <a:xfrm>
            <a:off x="6369351" y="3514484"/>
            <a:ext cx="2246012" cy="6400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834" dirty="0">
                <a:solidFill>
                  <a:srgbClr val="111111"/>
                </a:solidFill>
              </a:rPr>
              <a:t>No saltarse la validación de trust de Apple. El Pinning es una capa </a:t>
            </a:r>
            <a:r>
              <a:rPr lang="en-US" sz="784" b="1" dirty="0">
                <a:solidFill>
                  <a:srgbClr val="111111"/>
                </a:solidFill>
              </a:rPr>
              <a:t>adicional</a:t>
            </a:r>
            <a:r>
              <a:rPr lang="en-US" sz="834" dirty="0">
                <a:solidFill>
                  <a:srgbClr val="111111"/>
                </a:solidFill>
              </a:rPr>
              <a:t>, no un reemplazo de la validación CA estándar.</a:t>
            </a:r>
            <a:endParaRPr lang="en-US" sz="834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2000250" cy="51435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1"/>
          <p:cNvSpPr/>
          <p:nvPr/>
        </p:nvSpPr>
        <p:spPr>
          <a:xfrm>
            <a:off x="1971675" y="0"/>
            <a:ext cx="28575" cy="51435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142875" y="285750"/>
            <a:ext cx="806888" cy="7298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6218" b="1" kern="0" spc="-4">
                <a:solidFill>
                  <a:schemeClr val="accent2">
                    <a:lumMod val="75000"/>
                  </a:schemeClr>
                </a:solidFill>
              </a:rPr>
              <a:t>11</a:t>
            </a:r>
            <a:endParaRPr lang="en-US" sz="6218" b="1" kern="0" spc="-4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142875" y="4682728"/>
            <a:ext cx="1714500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kern="0" spc="2" dirty="0">
                <a:solidFill>
                  <a:srgbClr val="F5F5F5">
                    <a:alpha val="80000"/>
                  </a:srgbClr>
                </a:solidFill>
              </a:rPr>
              <a:t>Estrategia</a:t>
            </a:r>
            <a:endParaRPr lang="en-US" sz="942" dirty="0"/>
          </a:p>
        </p:txBody>
      </p:sp>
      <p:sp>
        <p:nvSpPr>
          <p:cNvPr id="7" name="Text 4"/>
          <p:cNvSpPr/>
          <p:nvPr/>
        </p:nvSpPr>
        <p:spPr>
          <a:xfrm>
            <a:off x="2286000" y="428625"/>
            <a:ext cx="6572250" cy="44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62" b="1" kern="0" spc="-1" dirty="0">
                <a:solidFill>
                  <a:srgbClr val="111111"/>
                </a:solidFill>
              </a:rPr>
              <a:t>mTLS vs Pinning</a:t>
            </a:r>
            <a:endParaRPr lang="en-US" sz="2862" dirty="0"/>
          </a:p>
        </p:txBody>
      </p:sp>
      <p:sp>
        <p:nvSpPr>
          <p:cNvPr id="8" name="Text 5"/>
          <p:cNvSpPr/>
          <p:nvPr/>
        </p:nvSpPr>
        <p:spPr>
          <a:xfrm>
            <a:off x="2286000" y="940101"/>
            <a:ext cx="657225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44CC"/>
                </a:solidFill>
              </a:rPr>
              <a:t>Dos Controles, Distintos Objetivos</a:t>
            </a:r>
            <a:endParaRPr lang="en-US" sz="1193" dirty="0"/>
          </a:p>
        </p:txBody>
      </p:sp>
      <p:sp>
        <p:nvSpPr>
          <p:cNvPr id="9" name="Shape 6"/>
          <p:cNvSpPr/>
          <p:nvPr/>
        </p:nvSpPr>
        <p:spPr>
          <a:xfrm>
            <a:off x="2300288" y="1502671"/>
            <a:ext cx="3150394" cy="348258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Text 7"/>
          <p:cNvSpPr/>
          <p:nvPr/>
        </p:nvSpPr>
        <p:spPr>
          <a:xfrm>
            <a:off x="2443163" y="1559821"/>
            <a:ext cx="452289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5F5F5"/>
                </a:solidFill>
              </a:rPr>
              <a:t>mTLS</a:t>
            </a:r>
            <a:endParaRPr lang="en-US" sz="1193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9219" y="1591075"/>
            <a:ext cx="128588" cy="17145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386013" y="1936654"/>
            <a:ext cx="2978944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44CC"/>
                </a:solidFill>
              </a:rPr>
              <a:t>Definición</a:t>
            </a:r>
            <a:endParaRPr lang="en-US" sz="683" dirty="0"/>
          </a:p>
        </p:txBody>
      </p:sp>
      <p:sp>
        <p:nvSpPr>
          <p:cNvPr id="13" name="Text 9"/>
          <p:cNvSpPr/>
          <p:nvPr/>
        </p:nvSpPr>
        <p:spPr>
          <a:xfrm>
            <a:off x="2386013" y="2108104"/>
            <a:ext cx="2978944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111111"/>
                </a:solidFill>
              </a:rPr>
              <a:t>Autenticación Mutua. El cliente presenta su propio certificado para probar su identidad.</a:t>
            </a:r>
            <a:endParaRPr lang="en-US" sz="942" dirty="0"/>
          </a:p>
        </p:txBody>
      </p:sp>
      <p:sp>
        <p:nvSpPr>
          <p:cNvPr id="14" name="Text 10"/>
          <p:cNvSpPr/>
          <p:nvPr/>
        </p:nvSpPr>
        <p:spPr>
          <a:xfrm>
            <a:off x="2386013" y="2596725"/>
            <a:ext cx="2978944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44CC"/>
                </a:solidFill>
              </a:rPr>
              <a:t>Pregunta Clave</a:t>
            </a:r>
            <a:endParaRPr lang="en-US" sz="683" dirty="0"/>
          </a:p>
        </p:txBody>
      </p:sp>
      <p:sp>
        <p:nvSpPr>
          <p:cNvPr id="15" name="Text 11"/>
          <p:cNvSpPr/>
          <p:nvPr/>
        </p:nvSpPr>
        <p:spPr>
          <a:xfrm>
            <a:off x="2386013" y="2768175"/>
            <a:ext cx="2978944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111111"/>
                </a:solidFill>
              </a:rPr>
              <a:t>"¿Quién es el cliente?"</a:t>
            </a:r>
            <a:endParaRPr lang="en-US" sz="942" dirty="0"/>
          </a:p>
        </p:txBody>
      </p:sp>
      <p:sp>
        <p:nvSpPr>
          <p:cNvPr id="16" name="Text 12"/>
          <p:cNvSpPr/>
          <p:nvPr/>
        </p:nvSpPr>
        <p:spPr>
          <a:xfrm>
            <a:off x="2386013" y="3076780"/>
            <a:ext cx="2978944" cy="403622"/>
          </a:xfrm>
          <a:prstGeom prst="rect">
            <a:avLst/>
          </a:prstGeom>
          <a:noFill/>
          <a:ln/>
        </p:spPr>
        <p:txBody>
          <a:bodyPr wrap="square" lIns="0" tIns="102108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333333"/>
                </a:solidFill>
              </a:rPr>
              <a:t>Uso Típico:</a:t>
            </a:r>
            <a:r>
              <a:rPr lang="en-US" sz="834" dirty="0">
                <a:solidFill>
                  <a:srgbClr val="333333"/>
                </a:solidFill>
              </a:rPr>
              <a:t> M2M, Backend-to-Backend, Servicios Internos.</a:t>
            </a:r>
            <a:endParaRPr lang="en-US" sz="784" dirty="0"/>
          </a:p>
        </p:txBody>
      </p:sp>
      <p:sp>
        <p:nvSpPr>
          <p:cNvPr id="17" name="Shape 13"/>
          <p:cNvSpPr/>
          <p:nvPr/>
        </p:nvSpPr>
        <p:spPr>
          <a:xfrm>
            <a:off x="5693569" y="1502671"/>
            <a:ext cx="3150394" cy="348258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8" name="Text 14"/>
          <p:cNvSpPr/>
          <p:nvPr/>
        </p:nvSpPr>
        <p:spPr>
          <a:xfrm>
            <a:off x="5836444" y="1559821"/>
            <a:ext cx="783357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5F5F5"/>
                </a:solidFill>
              </a:rPr>
              <a:t>Pinning</a:t>
            </a:r>
            <a:endParaRPr lang="en-US" sz="1193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1591075"/>
            <a:ext cx="128588" cy="17145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779294" y="1936654"/>
            <a:ext cx="2978944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44CC"/>
                </a:solidFill>
              </a:rPr>
              <a:t>Definición</a:t>
            </a:r>
            <a:endParaRPr lang="en-US" sz="683" dirty="0"/>
          </a:p>
        </p:txBody>
      </p:sp>
      <p:sp>
        <p:nvSpPr>
          <p:cNvPr id="21" name="Text 16"/>
          <p:cNvSpPr/>
          <p:nvPr/>
        </p:nvSpPr>
        <p:spPr>
          <a:xfrm>
            <a:off x="5779294" y="2108104"/>
            <a:ext cx="2978944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111111"/>
                </a:solidFill>
              </a:rPr>
              <a:t>Restricción de Identidad. El cliente valida que el servidor sea exactamente quien dice ser.</a:t>
            </a:r>
            <a:endParaRPr lang="en-US" sz="942" dirty="0"/>
          </a:p>
        </p:txBody>
      </p:sp>
      <p:sp>
        <p:nvSpPr>
          <p:cNvPr id="22" name="Text 17"/>
          <p:cNvSpPr/>
          <p:nvPr/>
        </p:nvSpPr>
        <p:spPr>
          <a:xfrm>
            <a:off x="5779294" y="2596725"/>
            <a:ext cx="2978944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44CC"/>
                </a:solidFill>
              </a:rPr>
              <a:t>Pregunta Clave</a:t>
            </a:r>
            <a:endParaRPr lang="en-US" sz="683" dirty="0"/>
          </a:p>
        </p:txBody>
      </p:sp>
      <p:sp>
        <p:nvSpPr>
          <p:cNvPr id="23" name="Text 18"/>
          <p:cNvSpPr/>
          <p:nvPr/>
        </p:nvSpPr>
        <p:spPr>
          <a:xfrm>
            <a:off x="5779294" y="2768175"/>
            <a:ext cx="1558119" cy="1665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111111"/>
                </a:solidFill>
              </a:rPr>
              <a:t>"¿Es </a:t>
            </a:r>
            <a:r>
              <a:rPr lang="en-US" sz="942" b="1" dirty="0">
                <a:solidFill>
                  <a:srgbClr val="111111"/>
                </a:solidFill>
              </a:rPr>
              <a:t>ESTE</a:t>
            </a:r>
            <a:r>
              <a:rPr lang="en-US" sz="942" dirty="0">
                <a:solidFill>
                  <a:srgbClr val="111111"/>
                </a:solidFill>
              </a:rPr>
              <a:t> el servidor correcto?"</a:t>
            </a:r>
            <a:endParaRPr lang="en-US" sz="942" dirty="0"/>
          </a:p>
        </p:txBody>
      </p:sp>
      <p:sp>
        <p:nvSpPr>
          <p:cNvPr id="24" name="Text 19"/>
          <p:cNvSpPr/>
          <p:nvPr/>
        </p:nvSpPr>
        <p:spPr>
          <a:xfrm>
            <a:off x="5779294" y="3232156"/>
            <a:ext cx="2978944" cy="248245"/>
          </a:xfrm>
          <a:prstGeom prst="rect">
            <a:avLst/>
          </a:prstGeom>
          <a:noFill/>
          <a:ln/>
        </p:spPr>
        <p:txBody>
          <a:bodyPr wrap="square" lIns="0" tIns="102108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333333"/>
                </a:solidFill>
              </a:rPr>
              <a:t>Uso Típico:</a:t>
            </a:r>
            <a:r>
              <a:rPr lang="en-US" sz="834" dirty="0">
                <a:solidFill>
                  <a:srgbClr val="333333"/>
                </a:solidFill>
              </a:rPr>
              <a:t> Mobile Banking (Redes no confiables).</a:t>
            </a:r>
            <a:endParaRPr lang="en-US" sz="784" dirty="0"/>
          </a:p>
        </p:txBody>
      </p:sp>
      <p:sp>
        <p:nvSpPr>
          <p:cNvPr id="25" name="Shape 20"/>
          <p:cNvSpPr/>
          <p:nvPr/>
        </p:nvSpPr>
        <p:spPr>
          <a:xfrm>
            <a:off x="2271713" y="3809014"/>
            <a:ext cx="6572250" cy="735806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6" name="Shape 21"/>
          <p:cNvSpPr/>
          <p:nvPr/>
        </p:nvSpPr>
        <p:spPr>
          <a:xfrm>
            <a:off x="2286000" y="3809014"/>
            <a:ext cx="42863" cy="735806"/>
          </a:xfrm>
          <a:prstGeom prst="rect">
            <a:avLst/>
          </a:prstGeom>
          <a:solidFill>
            <a:srgbClr val="0044CC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7" name="Text 22"/>
          <p:cNvSpPr/>
          <p:nvPr/>
        </p:nvSpPr>
        <p:spPr>
          <a:xfrm>
            <a:off x="2371725" y="3894739"/>
            <a:ext cx="1681551" cy="1204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1000" b="1" dirty="0">
                <a:solidFill>
                  <a:srgbClr val="0044CC"/>
                </a:solidFill>
              </a:rPr>
              <a:t>Arquitectura Bancaria Moderna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2371725" y="4087620"/>
            <a:ext cx="6400800" cy="373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b="1" dirty="0">
                <a:solidFill>
                  <a:schemeClr val="accent2">
                    <a:lumMod val="75000"/>
                  </a:schemeClr>
                </a:solidFill>
              </a:rPr>
              <a:t>Combinar ambos eleva el costo del ataque: Pinning en la App Móvil + mTLS entre Backend y Servicios Internos.</a:t>
            </a:r>
            <a:endParaRPr lang="en-US" sz="1100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2000250" cy="51435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1"/>
          <p:cNvSpPr/>
          <p:nvPr/>
        </p:nvSpPr>
        <p:spPr>
          <a:xfrm>
            <a:off x="1971675" y="0"/>
            <a:ext cx="28575" cy="51435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171450" y="142875"/>
            <a:ext cx="806888" cy="7298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6218" b="1" kern="0" spc="-4">
                <a:solidFill>
                  <a:schemeClr val="accent2">
                    <a:lumMod val="75000"/>
                  </a:schemeClr>
                </a:solidFill>
              </a:rPr>
              <a:t>12</a:t>
            </a:r>
            <a:endParaRPr lang="en-US" sz="6218" b="1" kern="0" spc="-4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171450" y="942975"/>
            <a:ext cx="868636" cy="1472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kern="0" spc="2" dirty="0">
                <a:solidFill>
                  <a:schemeClr val="accent2">
                    <a:lumMod val="75000"/>
                  </a:schemeClr>
                </a:solidFill>
              </a:rPr>
              <a:t>Análisis de Riesgo</a:t>
            </a:r>
            <a:endParaRPr lang="en-US" sz="942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2214563" y="285750"/>
            <a:ext cx="6715125" cy="44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62" b="1" kern="0" spc="-1" dirty="0">
                <a:solidFill>
                  <a:srgbClr val="111111"/>
                </a:solidFill>
              </a:rPr>
              <a:t>Reverse Engineering</a:t>
            </a:r>
            <a:endParaRPr lang="en-US" sz="2862" dirty="0"/>
          </a:p>
        </p:txBody>
      </p:sp>
      <p:sp>
        <p:nvSpPr>
          <p:cNvPr id="8" name="Text 5"/>
          <p:cNvSpPr/>
          <p:nvPr/>
        </p:nvSpPr>
        <p:spPr>
          <a:xfrm>
            <a:off x="2214563" y="797226"/>
            <a:ext cx="6715125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44CC"/>
                </a:solidFill>
              </a:rPr>
              <a:t>¿Es la extracción de pins un riesgo fatal?</a:t>
            </a:r>
            <a:endParaRPr lang="en-US" sz="1193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6006" y="1426769"/>
            <a:ext cx="171450" cy="1714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578894" y="1395515"/>
            <a:ext cx="111942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11111"/>
                </a:solidFill>
              </a:rPr>
              <a:t>La Realidad</a:t>
            </a:r>
            <a:endParaRPr lang="en-US" sz="1193" dirty="0"/>
          </a:p>
        </p:txBody>
      </p:sp>
      <p:sp>
        <p:nvSpPr>
          <p:cNvPr id="11" name="Text 7"/>
          <p:cNvSpPr/>
          <p:nvPr/>
        </p:nvSpPr>
        <p:spPr>
          <a:xfrm>
            <a:off x="2336006" y="1715198"/>
            <a:ext cx="3043238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Un atacante con tiempo </a:t>
            </a:r>
            <a:r>
              <a:rPr lang="en-US" sz="885" b="1" dirty="0">
                <a:solidFill>
                  <a:srgbClr val="333333"/>
                </a:solidFill>
              </a:rPr>
              <a:t>SIEMPRE</a:t>
            </a:r>
            <a:r>
              <a:rPr lang="en-US" sz="942" dirty="0">
                <a:solidFill>
                  <a:srgbClr val="333333"/>
                </a:solidFill>
              </a:rPr>
              <a:t> puede extraer los pins (strings) del binario de la app mediante ingeniería inversa. Es imposible ocultarlos totalmente.</a:t>
            </a:r>
            <a:endParaRPr lang="en-US" sz="942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5006" y="1426769"/>
            <a:ext cx="171450" cy="17145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007894" y="1395515"/>
            <a:ext cx="1992604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44CC"/>
                </a:solidFill>
              </a:rPr>
              <a:t>Por qué NO es Bypass</a:t>
            </a:r>
            <a:endParaRPr lang="en-US" sz="1193" dirty="0"/>
          </a:p>
        </p:txBody>
      </p:sp>
      <p:sp>
        <p:nvSpPr>
          <p:cNvPr id="14" name="Shape 9"/>
          <p:cNvSpPr/>
          <p:nvPr/>
        </p:nvSpPr>
        <p:spPr>
          <a:xfrm>
            <a:off x="5765006" y="1786635"/>
            <a:ext cx="3043238" cy="483989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5" name="Text 10"/>
          <p:cNvSpPr/>
          <p:nvPr/>
        </p:nvSpPr>
        <p:spPr>
          <a:xfrm>
            <a:off x="6012135" y="1941119"/>
            <a:ext cx="866682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F5F5F5"/>
                </a:solidFill>
              </a:rPr>
              <a:t>Conocer el Pin</a:t>
            </a:r>
            <a:endParaRPr lang="en-US" sz="942" dirty="0"/>
          </a:p>
        </p:txBody>
      </p:sp>
      <p:sp>
        <p:nvSpPr>
          <p:cNvPr id="16" name="Text 11"/>
          <p:cNvSpPr/>
          <p:nvPr/>
        </p:nvSpPr>
        <p:spPr>
          <a:xfrm>
            <a:off x="6993117" y="1872360"/>
            <a:ext cx="130764" cy="3125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FF3300"/>
                </a:solidFill>
              </a:rPr>
              <a:t>≠</a:t>
            </a:r>
            <a:endParaRPr lang="en-US" sz="1602" dirty="0"/>
          </a:p>
        </p:txBody>
      </p:sp>
      <p:sp>
        <p:nvSpPr>
          <p:cNvPr id="17" name="Text 12"/>
          <p:cNvSpPr/>
          <p:nvPr/>
        </p:nvSpPr>
        <p:spPr>
          <a:xfrm>
            <a:off x="7238181" y="1941119"/>
            <a:ext cx="132293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F5F5F5"/>
                </a:solidFill>
              </a:rPr>
              <a:t>Tener la Clave Privada</a:t>
            </a:r>
            <a:endParaRPr lang="en-US" sz="942" dirty="0"/>
          </a:p>
        </p:txBody>
      </p:sp>
      <p:sp>
        <p:nvSpPr>
          <p:cNvPr id="18" name="Text 13"/>
          <p:cNvSpPr/>
          <p:nvPr/>
        </p:nvSpPr>
        <p:spPr>
          <a:xfrm>
            <a:off x="5765006" y="2342062"/>
            <a:ext cx="3043238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Para ejecutar un MITM, el atacante necesita la </a:t>
            </a:r>
            <a:r>
              <a:rPr lang="en-US" sz="885" b="1" dirty="0">
                <a:solidFill>
                  <a:srgbClr val="333333"/>
                </a:solidFill>
              </a:rPr>
              <a:t>Clave Privada</a:t>
            </a:r>
            <a:r>
              <a:rPr lang="en-US" sz="942" dirty="0">
                <a:solidFill>
                  <a:srgbClr val="333333"/>
                </a:solidFill>
              </a:rPr>
              <a:t> del servidor para completar el handshake TLS. El pin es solo la llave pública.</a:t>
            </a:r>
            <a:endParaRPr lang="en-US" sz="942" dirty="0"/>
          </a:p>
        </p:txBody>
      </p:sp>
      <p:sp>
        <p:nvSpPr>
          <p:cNvPr id="19" name="Text 14"/>
          <p:cNvSpPr/>
          <p:nvPr/>
        </p:nvSpPr>
        <p:spPr>
          <a:xfrm>
            <a:off x="2214563" y="3270749"/>
            <a:ext cx="671512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3300"/>
                </a:solidFill>
              </a:rPr>
              <a:t>El Verdadero Vector de Ataque (Runtime)</a:t>
            </a:r>
            <a:endParaRPr lang="en-US" sz="784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14563" y="3622579"/>
            <a:ext cx="128588" cy="12858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2428875" y="3511851"/>
            <a:ext cx="1500690" cy="3500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111111"/>
                </a:solidFill>
              </a:rPr>
              <a:t>Hooking (Frida)</a:t>
            </a:r>
            <a:r>
              <a:rPr lang="en-US" sz="942" dirty="0">
                <a:solidFill>
                  <a:srgbClr val="111111"/>
                </a:solidFill>
              </a:rPr>
              <a:t>
</a:t>
            </a:r>
            <a:r>
              <a:rPr lang="en-US" sz="727" dirty="0">
                <a:solidFill>
                  <a:srgbClr val="666666"/>
                </a:solidFill>
              </a:rPr>
              <a:t>Saltar la validación en memoria.</a:t>
            </a:r>
            <a:endParaRPr lang="en-US" sz="885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07844" y="3622579"/>
            <a:ext cx="112514" cy="12858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806083" y="3511851"/>
            <a:ext cx="1976447" cy="3500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111111"/>
                </a:solidFill>
              </a:rPr>
              <a:t>Binary Patching</a:t>
            </a:r>
            <a:r>
              <a:rPr lang="en-US" sz="942" dirty="0">
                <a:solidFill>
                  <a:srgbClr val="111111"/>
                </a:solidFill>
              </a:rPr>
              <a:t>
</a:t>
            </a:r>
            <a:r>
              <a:rPr lang="en-US" sz="727" dirty="0">
                <a:solidFill>
                  <a:srgbClr val="666666"/>
                </a:solidFill>
              </a:rPr>
              <a:t>Modificar el código para eliminar el check.</a:t>
            </a:r>
            <a:endParaRPr lang="en-US" sz="885" dirty="0"/>
          </a:p>
        </p:txBody>
      </p:sp>
      <p:sp>
        <p:nvSpPr>
          <p:cNvPr id="24" name="Shape 17"/>
          <p:cNvSpPr/>
          <p:nvPr/>
        </p:nvSpPr>
        <p:spPr>
          <a:xfrm>
            <a:off x="2214563" y="3969051"/>
            <a:ext cx="6715125" cy="414338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5" name="Shape 18"/>
          <p:cNvSpPr/>
          <p:nvPr/>
        </p:nvSpPr>
        <p:spPr>
          <a:xfrm>
            <a:off x="2214563" y="3969051"/>
            <a:ext cx="42863" cy="414338"/>
          </a:xfrm>
          <a:prstGeom prst="rect">
            <a:avLst/>
          </a:prstGeom>
          <a:solidFill>
            <a:srgbClr val="0044CC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6" name="Text 19"/>
          <p:cNvSpPr/>
          <p:nvPr/>
        </p:nvSpPr>
        <p:spPr>
          <a:xfrm>
            <a:off x="2214563" y="3969051"/>
            <a:ext cx="6715125" cy="407676"/>
          </a:xfrm>
          <a:prstGeom prst="rect">
            <a:avLst/>
          </a:prstGeom>
          <a:noFill/>
          <a:ln/>
        </p:spPr>
        <p:txBody>
          <a:bodyPr wrap="square" lIns="85090" tIns="85090" rIns="85090" bIns="8509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1000" b="1" dirty="0">
                <a:solidFill>
                  <a:schemeClr val="accent2">
                    <a:lumMod val="75000"/>
                  </a:schemeClr>
                </a:solidFill>
              </a:rPr>
              <a:t>&gt; CONCLUSIÓN: Pinning no es infalible, pero eleva masivamente el costo del ataque. Se debe complementar con Root Detection y Anti-Tampering</a:t>
            </a:r>
            <a:r>
              <a:rPr lang="en-US" sz="727" dirty="0">
                <a:solidFill>
                  <a:srgbClr val="111111"/>
                </a:solidFill>
              </a:rPr>
              <a:t>.</a:t>
            </a:r>
            <a:endParaRPr lang="en-US" sz="727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2000250" cy="51435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1"/>
          <p:cNvSpPr/>
          <p:nvPr/>
        </p:nvSpPr>
        <p:spPr>
          <a:xfrm>
            <a:off x="1971675" y="0"/>
            <a:ext cx="28575" cy="51435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214313" y="285750"/>
            <a:ext cx="806888" cy="7298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6218" b="1" kern="0" spc="-4">
                <a:solidFill>
                  <a:schemeClr val="accent2">
                    <a:lumMod val="75000"/>
                  </a:schemeClr>
                </a:solidFill>
              </a:rPr>
              <a:t>13</a:t>
            </a:r>
            <a:endParaRPr lang="en-US" sz="6218" b="1" kern="0" spc="-4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214313" y="4682728"/>
            <a:ext cx="850489" cy="1472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kern="0" spc="2" dirty="0">
                <a:solidFill>
                  <a:schemeClr val="accent2">
                    <a:lumMod val="75000"/>
                  </a:schemeClr>
                </a:solidFill>
              </a:rPr>
              <a:t>Defense in Depth</a:t>
            </a:r>
            <a:endParaRPr lang="en-US" sz="942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2428875" y="285750"/>
            <a:ext cx="6286500" cy="44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62" b="1" kern="0" spc="-1" dirty="0">
                <a:solidFill>
                  <a:srgbClr val="111111"/>
                </a:solidFill>
              </a:rPr>
              <a:t>Defense in Depth Realista</a:t>
            </a:r>
            <a:endParaRPr lang="en-US" sz="2862" dirty="0"/>
          </a:p>
        </p:txBody>
      </p:sp>
      <p:sp>
        <p:nvSpPr>
          <p:cNvPr id="8" name="Text 5"/>
          <p:cNvSpPr/>
          <p:nvPr/>
        </p:nvSpPr>
        <p:spPr>
          <a:xfrm>
            <a:off x="2428875" y="797226"/>
            <a:ext cx="62865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44CC"/>
                </a:solidFill>
              </a:rPr>
              <a:t>Capas de Seguridad Obligatorias</a:t>
            </a:r>
            <a:endParaRPr lang="en-US" sz="1193" dirty="0"/>
          </a:p>
        </p:txBody>
      </p:sp>
      <p:sp>
        <p:nvSpPr>
          <p:cNvPr id="9" name="Shape 6"/>
          <p:cNvSpPr/>
          <p:nvPr/>
        </p:nvSpPr>
        <p:spPr>
          <a:xfrm>
            <a:off x="2428875" y="1416946"/>
            <a:ext cx="2828925" cy="2857500"/>
          </a:xfrm>
          <a:prstGeom prst="rect">
            <a:avLst/>
          </a:prstGeom>
          <a:solidFill>
            <a:srgbClr val="FFFFFF"/>
          </a:solidFill>
          <a:ln w="18288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0313" y="2095853"/>
            <a:ext cx="2686050" cy="149968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543550" y="1533925"/>
            <a:ext cx="214313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44CC"/>
                </a:solidFill>
              </a:rPr>
              <a:t>01</a:t>
            </a:r>
            <a:endParaRPr lang="en-US" sz="1193" dirty="0"/>
          </a:p>
        </p:txBody>
      </p:sp>
      <p:sp>
        <p:nvSpPr>
          <p:cNvPr id="12" name="Text 8"/>
          <p:cNvSpPr/>
          <p:nvPr/>
        </p:nvSpPr>
        <p:spPr>
          <a:xfrm>
            <a:off x="5865019" y="1488384"/>
            <a:ext cx="285035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111111"/>
                </a:solidFill>
              </a:rPr>
              <a:t>TLS 1.3 Encryption</a:t>
            </a:r>
            <a:endParaRPr lang="en-US" sz="885" dirty="0"/>
          </a:p>
        </p:txBody>
      </p:sp>
      <p:sp>
        <p:nvSpPr>
          <p:cNvPr id="13" name="Text 9"/>
          <p:cNvSpPr/>
          <p:nvPr/>
        </p:nvSpPr>
        <p:spPr>
          <a:xfrm>
            <a:off x="5865019" y="1677693"/>
            <a:ext cx="2850356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555555"/>
                </a:solidFill>
              </a:rPr>
              <a:t>Cifrado de transporte base.</a:t>
            </a:r>
            <a:endParaRPr lang="en-US" sz="727" dirty="0"/>
          </a:p>
        </p:txBody>
      </p:sp>
      <p:sp>
        <p:nvSpPr>
          <p:cNvPr id="14" name="Text 10"/>
          <p:cNvSpPr/>
          <p:nvPr/>
        </p:nvSpPr>
        <p:spPr>
          <a:xfrm>
            <a:off x="5543550" y="2152110"/>
            <a:ext cx="214313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44CC"/>
                </a:solidFill>
              </a:rPr>
              <a:t>02</a:t>
            </a:r>
            <a:endParaRPr lang="en-US" sz="1193" dirty="0"/>
          </a:p>
        </p:txBody>
      </p:sp>
      <p:sp>
        <p:nvSpPr>
          <p:cNvPr id="15" name="Text 11"/>
          <p:cNvSpPr/>
          <p:nvPr/>
        </p:nvSpPr>
        <p:spPr>
          <a:xfrm>
            <a:off x="5865019" y="2106569"/>
            <a:ext cx="285035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44CC"/>
                </a:solidFill>
              </a:rPr>
              <a:t>SPKI Pinning</a:t>
            </a:r>
            <a:endParaRPr lang="en-US" sz="885" dirty="0"/>
          </a:p>
        </p:txBody>
      </p:sp>
      <p:sp>
        <p:nvSpPr>
          <p:cNvPr id="16" name="Text 12"/>
          <p:cNvSpPr/>
          <p:nvPr/>
        </p:nvSpPr>
        <p:spPr>
          <a:xfrm>
            <a:off x="5865019" y="2295878"/>
            <a:ext cx="2850356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555555"/>
                </a:solidFill>
              </a:rPr>
              <a:t>Restricción de identidad del servidor.</a:t>
            </a:r>
            <a:endParaRPr lang="en-US" sz="727" dirty="0"/>
          </a:p>
        </p:txBody>
      </p:sp>
      <p:sp>
        <p:nvSpPr>
          <p:cNvPr id="17" name="Text 13"/>
          <p:cNvSpPr/>
          <p:nvPr/>
        </p:nvSpPr>
        <p:spPr>
          <a:xfrm>
            <a:off x="5543550" y="2770296"/>
            <a:ext cx="214313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44CC"/>
                </a:solidFill>
              </a:rPr>
              <a:t>03</a:t>
            </a:r>
            <a:endParaRPr lang="en-US" sz="1193" dirty="0"/>
          </a:p>
        </p:txBody>
      </p:sp>
      <p:sp>
        <p:nvSpPr>
          <p:cNvPr id="18" name="Text 14"/>
          <p:cNvSpPr/>
          <p:nvPr/>
        </p:nvSpPr>
        <p:spPr>
          <a:xfrm>
            <a:off x="5865019" y="2724755"/>
            <a:ext cx="285035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111111"/>
                </a:solidFill>
              </a:rPr>
              <a:t>Root / Jailbreak Detection</a:t>
            </a:r>
            <a:endParaRPr lang="en-US" sz="885" dirty="0"/>
          </a:p>
        </p:txBody>
      </p:sp>
      <p:sp>
        <p:nvSpPr>
          <p:cNvPr id="19" name="Text 15"/>
          <p:cNvSpPr/>
          <p:nvPr/>
        </p:nvSpPr>
        <p:spPr>
          <a:xfrm>
            <a:off x="5865019" y="2914064"/>
            <a:ext cx="2850356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555555"/>
                </a:solidFill>
              </a:rPr>
              <a:t>Detección de entorno comprometido (Risk-based).</a:t>
            </a:r>
            <a:endParaRPr lang="en-US" sz="727" dirty="0"/>
          </a:p>
        </p:txBody>
      </p:sp>
      <p:sp>
        <p:nvSpPr>
          <p:cNvPr id="20" name="Text 16"/>
          <p:cNvSpPr/>
          <p:nvPr/>
        </p:nvSpPr>
        <p:spPr>
          <a:xfrm>
            <a:off x="5543550" y="3388482"/>
            <a:ext cx="214313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44CC"/>
                </a:solidFill>
              </a:rPr>
              <a:t>04</a:t>
            </a:r>
            <a:endParaRPr lang="en-US" sz="1193" dirty="0"/>
          </a:p>
        </p:txBody>
      </p:sp>
      <p:sp>
        <p:nvSpPr>
          <p:cNvPr id="21" name="Text 17"/>
          <p:cNvSpPr/>
          <p:nvPr/>
        </p:nvSpPr>
        <p:spPr>
          <a:xfrm>
            <a:off x="5865019" y="3342940"/>
            <a:ext cx="285035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111111"/>
                </a:solidFill>
              </a:rPr>
              <a:t>Hooking Detection</a:t>
            </a:r>
            <a:endParaRPr lang="en-US" sz="885" dirty="0"/>
          </a:p>
        </p:txBody>
      </p:sp>
      <p:sp>
        <p:nvSpPr>
          <p:cNvPr id="22" name="Text 18"/>
          <p:cNvSpPr/>
          <p:nvPr/>
        </p:nvSpPr>
        <p:spPr>
          <a:xfrm>
            <a:off x="5865019" y="3532250"/>
            <a:ext cx="2850356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555555"/>
                </a:solidFill>
              </a:rPr>
              <a:t>Anti-Frida, ptrace, librerías inyectadas.</a:t>
            </a:r>
            <a:endParaRPr lang="en-US" sz="727" dirty="0"/>
          </a:p>
        </p:txBody>
      </p:sp>
      <p:sp>
        <p:nvSpPr>
          <p:cNvPr id="23" name="Text 19"/>
          <p:cNvSpPr/>
          <p:nvPr/>
        </p:nvSpPr>
        <p:spPr>
          <a:xfrm>
            <a:off x="5543550" y="4006667"/>
            <a:ext cx="214313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44CC"/>
                </a:solidFill>
              </a:rPr>
              <a:t>05</a:t>
            </a:r>
            <a:endParaRPr lang="en-US" sz="1193" dirty="0"/>
          </a:p>
        </p:txBody>
      </p:sp>
      <p:sp>
        <p:nvSpPr>
          <p:cNvPr id="24" name="Text 20"/>
          <p:cNvSpPr/>
          <p:nvPr/>
        </p:nvSpPr>
        <p:spPr>
          <a:xfrm>
            <a:off x="5865019" y="3961126"/>
            <a:ext cx="285035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111111"/>
                </a:solidFill>
              </a:rPr>
              <a:t>App Attestation</a:t>
            </a:r>
            <a:endParaRPr lang="en-US" sz="885" dirty="0"/>
          </a:p>
        </p:txBody>
      </p:sp>
      <p:sp>
        <p:nvSpPr>
          <p:cNvPr id="25" name="Text 21"/>
          <p:cNvSpPr/>
          <p:nvPr/>
        </p:nvSpPr>
        <p:spPr>
          <a:xfrm>
            <a:off x="5865019" y="4150435"/>
            <a:ext cx="2850356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555555"/>
                </a:solidFill>
              </a:rPr>
              <a:t>Play Integrity / App Attest validado server-side.</a:t>
            </a:r>
            <a:endParaRPr lang="en-US" sz="727" dirty="0"/>
          </a:p>
        </p:txBody>
      </p:sp>
      <p:sp>
        <p:nvSpPr>
          <p:cNvPr id="26" name="Shape 22"/>
          <p:cNvSpPr/>
          <p:nvPr/>
        </p:nvSpPr>
        <p:spPr>
          <a:xfrm>
            <a:off x="2428875" y="4507706"/>
            <a:ext cx="6286500" cy="350044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7" name="Shape 23"/>
          <p:cNvSpPr/>
          <p:nvPr/>
        </p:nvSpPr>
        <p:spPr>
          <a:xfrm>
            <a:off x="2428875" y="4507706"/>
            <a:ext cx="42863" cy="350044"/>
          </a:xfrm>
          <a:prstGeom prst="rect">
            <a:avLst/>
          </a:prstGeom>
          <a:solidFill>
            <a:srgbClr val="FF330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8" name="Text 24"/>
          <p:cNvSpPr/>
          <p:nvPr/>
        </p:nvSpPr>
        <p:spPr>
          <a:xfrm>
            <a:off x="2428875" y="4507706"/>
            <a:ext cx="6286500" cy="377924"/>
          </a:xfrm>
          <a:prstGeom prst="rect">
            <a:avLst/>
          </a:prstGeom>
          <a:noFill/>
          <a:ln/>
        </p:spPr>
        <p:txBody>
          <a:bodyPr wrap="square" lIns="127508" tIns="127508" rIns="127508" bIns="127508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1000" b="1" dirty="0">
                <a:solidFill>
                  <a:schemeClr val="accent2">
                    <a:lumMod val="75000"/>
                  </a:schemeClr>
                </a:solidFill>
              </a:rPr>
              <a:t>&gt; CONCLUSIÓN: Pinning es necesario pero no suficiente. La seguridad móvil es Arquitectura + Operación</a:t>
            </a:r>
            <a:r>
              <a:rPr lang="en-US" sz="727" dirty="0">
                <a:solidFill>
                  <a:srgbClr val="F5F5F5"/>
                </a:solidFill>
              </a:rPr>
              <a:t>.</a:t>
            </a:r>
            <a:endParaRPr lang="en-US" sz="727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2000250" cy="51435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1"/>
          <p:cNvSpPr/>
          <p:nvPr/>
        </p:nvSpPr>
        <p:spPr>
          <a:xfrm>
            <a:off x="1971675" y="0"/>
            <a:ext cx="28575" cy="51435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214313" y="285750"/>
            <a:ext cx="806888" cy="7298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6218" b="1" kern="0" spc="-4">
                <a:solidFill>
                  <a:schemeClr val="accent2">
                    <a:lumMod val="75000"/>
                  </a:schemeClr>
                </a:solidFill>
              </a:rPr>
              <a:t>14</a:t>
            </a:r>
            <a:endParaRPr lang="en-US" sz="6218" b="1" kern="0" spc="-4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214313" y="4682728"/>
            <a:ext cx="1571625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kern="0" spc="2" dirty="0">
                <a:solidFill>
                  <a:srgbClr val="F5F5F5">
                    <a:alpha val="80000"/>
                  </a:srgbClr>
                </a:solidFill>
              </a:rPr>
              <a:t>Common Errors</a:t>
            </a:r>
            <a:endParaRPr lang="en-US" sz="942" dirty="0"/>
          </a:p>
        </p:txBody>
      </p:sp>
      <p:sp>
        <p:nvSpPr>
          <p:cNvPr id="7" name="Text 4"/>
          <p:cNvSpPr/>
          <p:nvPr/>
        </p:nvSpPr>
        <p:spPr>
          <a:xfrm>
            <a:off x="2428875" y="285750"/>
            <a:ext cx="6286500" cy="44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62" b="1" kern="0" spc="-1" dirty="0">
                <a:solidFill>
                  <a:srgbClr val="111111"/>
                </a:solidFill>
              </a:rPr>
              <a:t>Errores Críticos</a:t>
            </a:r>
            <a:endParaRPr lang="en-US" sz="2862" dirty="0"/>
          </a:p>
        </p:txBody>
      </p:sp>
      <p:sp>
        <p:nvSpPr>
          <p:cNvPr id="8" name="Text 5"/>
          <p:cNvSpPr/>
          <p:nvPr/>
        </p:nvSpPr>
        <p:spPr>
          <a:xfrm>
            <a:off x="2428875" y="797226"/>
            <a:ext cx="62865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3300"/>
                </a:solidFill>
              </a:rPr>
              <a:t>Anti-Patrones que Rompen Proyectos</a:t>
            </a:r>
            <a:endParaRPr lang="en-US" sz="1193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0325" y="1442842"/>
            <a:ext cx="142875" cy="14287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814638" y="1416946"/>
            <a:ext cx="1185304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F3300"/>
                </a:solidFill>
              </a:rPr>
              <a:t>01. Un Solo Pin</a:t>
            </a:r>
            <a:endParaRPr lang="en-US" sz="987" dirty="0"/>
          </a:p>
        </p:txBody>
      </p:sp>
      <p:sp>
        <p:nvSpPr>
          <p:cNvPr id="11" name="Text 7"/>
          <p:cNvSpPr/>
          <p:nvPr/>
        </p:nvSpPr>
        <p:spPr>
          <a:xfrm>
            <a:off x="2600325" y="1647332"/>
            <a:ext cx="2864644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Cualquier error en la rotación o compromiso de clave deja la app inoperativa (Auto-DoS).</a:t>
            </a:r>
            <a:endParaRPr lang="en-US" sz="834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0325" y="2042359"/>
            <a:ext cx="100013" cy="10001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757488" y="2024500"/>
            <a:ext cx="2253993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44CC"/>
                </a:solidFill>
              </a:rPr>
              <a:t>SOLUCIÓN: Siempre 2+ Pins (Activo + Backup)</a:t>
            </a:r>
            <a:endParaRPr lang="en-US" sz="683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0325" y="2364721"/>
            <a:ext cx="142875" cy="14287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2814638" y="2338825"/>
            <a:ext cx="1870686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F3300"/>
                </a:solidFill>
              </a:rPr>
              <a:t>02. Pinning al Leaf Cert</a:t>
            </a:r>
            <a:endParaRPr lang="en-US" sz="987" dirty="0"/>
          </a:p>
        </p:txBody>
      </p:sp>
      <p:sp>
        <p:nvSpPr>
          <p:cNvPr id="16" name="Text 10"/>
          <p:cNvSpPr/>
          <p:nvPr/>
        </p:nvSpPr>
        <p:spPr>
          <a:xfrm>
            <a:off x="2600325" y="2569211"/>
            <a:ext cx="2864644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Cada renovación anual (o trimestral) del certificado rompe las versiones antiguas de la app.</a:t>
            </a:r>
            <a:endParaRPr lang="en-US" sz="834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0325" y="2964238"/>
            <a:ext cx="100013" cy="100013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2757488" y="2946378"/>
            <a:ext cx="1950858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44CC"/>
                </a:solidFill>
              </a:rPr>
              <a:t>SOLUCIÓN: SPKI Pinning (Key Rotation)</a:t>
            </a:r>
            <a:endParaRPr lang="en-US" sz="683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0325" y="3286599"/>
            <a:ext cx="142875" cy="142875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2814638" y="3260703"/>
            <a:ext cx="1635919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F3300"/>
                </a:solidFill>
              </a:rPr>
              <a:t>03. Ignorar CDN/WAF</a:t>
            </a:r>
            <a:endParaRPr lang="en-US" sz="987" dirty="0"/>
          </a:p>
        </p:txBody>
      </p:sp>
      <p:sp>
        <p:nvSpPr>
          <p:cNvPr id="21" name="Text 13"/>
          <p:cNvSpPr/>
          <p:nvPr/>
        </p:nvSpPr>
        <p:spPr>
          <a:xfrm>
            <a:off x="2600325" y="3491089"/>
            <a:ext cx="2864644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Si el certificado lo gestiona Cloudflare/Akamai, puede cambiar sin aviso y romper el pinning.</a:t>
            </a:r>
            <a:endParaRPr lang="en-US" sz="834" dirty="0"/>
          </a:p>
        </p:txBody>
      </p:sp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0325" y="3886116"/>
            <a:ext cx="100013" cy="100013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2757488" y="3868257"/>
            <a:ext cx="2701956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44CC"/>
                </a:solidFill>
              </a:rPr>
              <a:t>SOLUCIÓN: Pinear en el punto de terminación TLS real</a:t>
            </a:r>
            <a:endParaRPr lang="en-US" sz="683" dirty="0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0731" y="1442842"/>
            <a:ext cx="142875" cy="142875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6065044" y="1416946"/>
            <a:ext cx="2107992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F3300"/>
                </a:solidFill>
              </a:rPr>
              <a:t>04. Sin Plan de Emergencia</a:t>
            </a:r>
            <a:endParaRPr lang="en-US" sz="987" dirty="0"/>
          </a:p>
        </p:txBody>
      </p:sp>
      <p:sp>
        <p:nvSpPr>
          <p:cNvPr id="26" name="Text 16"/>
          <p:cNvSpPr/>
          <p:nvPr/>
        </p:nvSpPr>
        <p:spPr>
          <a:xfrm>
            <a:off x="5850731" y="1647332"/>
            <a:ext cx="2864644" cy="48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Si una clave se compromete y no hay PinB pre-cargado, no hay forma segura de recuperar el control.</a:t>
            </a:r>
            <a:endParaRPr lang="en-US" sz="834" dirty="0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0731" y="2202368"/>
            <a:ext cx="100013" cy="100013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6007894" y="2184509"/>
            <a:ext cx="2259490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44CC"/>
                </a:solidFill>
              </a:rPr>
              <a:t>SOLUCIÓN: Runbook de Incidente + PinB listo</a:t>
            </a:r>
            <a:endParaRPr lang="en-US" sz="683" dirty="0"/>
          </a:p>
        </p:txBody>
      </p:sp>
      <p:pic>
        <p:nvPicPr>
          <p:cNvPr id="29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50731" y="2524730"/>
            <a:ext cx="142875" cy="142875"/>
          </a:xfrm>
          <a:prstGeom prst="rect">
            <a:avLst/>
          </a:prstGeom>
        </p:spPr>
      </p:pic>
      <p:sp>
        <p:nvSpPr>
          <p:cNvPr id="30" name="Text 18"/>
          <p:cNvSpPr/>
          <p:nvPr/>
        </p:nvSpPr>
        <p:spPr>
          <a:xfrm>
            <a:off x="6065044" y="2498834"/>
            <a:ext cx="1604637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F3300"/>
                </a:solidFill>
              </a:rPr>
              <a:t>05. Solo Ofuscación</a:t>
            </a:r>
            <a:endParaRPr lang="en-US" sz="987" dirty="0"/>
          </a:p>
        </p:txBody>
      </p:sp>
      <p:sp>
        <p:nvSpPr>
          <p:cNvPr id="31" name="Text 19"/>
          <p:cNvSpPr/>
          <p:nvPr/>
        </p:nvSpPr>
        <p:spPr>
          <a:xfrm>
            <a:off x="5850731" y="2729219"/>
            <a:ext cx="2864644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Confiar únicamente en ocultar los strings de los pins es seguridad por oscuridad, fácilmente bypassable.</a:t>
            </a:r>
            <a:endParaRPr lang="en-US" sz="834" dirty="0"/>
          </a:p>
        </p:txBody>
      </p:sp>
      <p:pic>
        <p:nvPicPr>
          <p:cNvPr id="32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0731" y="3124247"/>
            <a:ext cx="100013" cy="100013"/>
          </a:xfrm>
          <a:prstGeom prst="rect">
            <a:avLst/>
          </a:prstGeom>
        </p:spPr>
      </p:pic>
      <p:sp>
        <p:nvSpPr>
          <p:cNvPr id="33" name="Text 20"/>
          <p:cNvSpPr/>
          <p:nvPr/>
        </p:nvSpPr>
        <p:spPr>
          <a:xfrm>
            <a:off x="6007894" y="3106387"/>
            <a:ext cx="2473328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44CC"/>
                </a:solidFill>
              </a:rPr>
              <a:t>SOLUCIÓN: Defense in Depth (Hooking Detection)</a:t>
            </a:r>
            <a:endParaRPr lang="en-US" sz="683" dirty="0"/>
          </a:p>
        </p:txBody>
      </p:sp>
      <p:sp>
        <p:nvSpPr>
          <p:cNvPr id="34" name="Shape 21"/>
          <p:cNvSpPr/>
          <p:nvPr/>
        </p:nvSpPr>
        <p:spPr>
          <a:xfrm>
            <a:off x="5679281" y="3513386"/>
            <a:ext cx="3036094" cy="1344364"/>
          </a:xfrm>
          <a:prstGeom prst="rect">
            <a:avLst/>
          </a:prstGeom>
          <a:solidFill>
            <a:srgbClr val="111111"/>
          </a:solidFill>
          <a:ln w="18288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35" name="Image 1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22156" y="3702695"/>
            <a:ext cx="100013" cy="100013"/>
          </a:xfrm>
          <a:prstGeom prst="rect">
            <a:avLst/>
          </a:prstGeom>
        </p:spPr>
      </p:pic>
      <p:sp>
        <p:nvSpPr>
          <p:cNvPr id="36" name="Text 22"/>
          <p:cNvSpPr/>
          <p:nvPr/>
        </p:nvSpPr>
        <p:spPr>
          <a:xfrm>
            <a:off x="5922169" y="3684836"/>
            <a:ext cx="1101365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FF3300"/>
                </a:solidFill>
              </a:rPr>
              <a:t>Impacto de Negocio</a:t>
            </a:r>
            <a:endParaRPr lang="en-US" sz="727" dirty="0"/>
          </a:p>
        </p:txBody>
      </p:sp>
      <p:sp>
        <p:nvSpPr>
          <p:cNvPr id="37" name="Text 23"/>
          <p:cNvSpPr/>
          <p:nvPr/>
        </p:nvSpPr>
        <p:spPr>
          <a:xfrm>
            <a:off x="5822156" y="3892004"/>
            <a:ext cx="2750344" cy="822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5F5F5"/>
                </a:solidFill>
              </a:rPr>
              <a:t>Un error de pinning no es un "bug menor". Es una caída total del servicio (Auto-DoS) o una vulnerabilidad crítica.</a:t>
            </a:r>
            <a:endParaRPr lang="en-US" sz="1193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2000250" cy="51435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1"/>
          <p:cNvSpPr/>
          <p:nvPr/>
        </p:nvSpPr>
        <p:spPr>
          <a:xfrm>
            <a:off x="1971675" y="0"/>
            <a:ext cx="28575" cy="51435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214313" y="285750"/>
            <a:ext cx="806888" cy="7298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6218" b="1" kern="0" spc="-4">
                <a:solidFill>
                  <a:schemeClr val="accent2">
                    <a:lumMod val="75000"/>
                  </a:schemeClr>
                </a:solidFill>
              </a:rPr>
              <a:t>15</a:t>
            </a:r>
            <a:endParaRPr lang="en-US" sz="6218" b="1" kern="0" spc="-4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214313" y="4682728"/>
            <a:ext cx="1571625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kern="0" spc="2" dirty="0">
                <a:solidFill>
                  <a:srgbClr val="F5F5F5">
                    <a:alpha val="80000"/>
                  </a:srgbClr>
                </a:solidFill>
              </a:rPr>
              <a:t>Lab Demo</a:t>
            </a:r>
            <a:endParaRPr lang="en-US" sz="942" dirty="0"/>
          </a:p>
        </p:txBody>
      </p:sp>
      <p:sp>
        <p:nvSpPr>
          <p:cNvPr id="7" name="Text 4"/>
          <p:cNvSpPr/>
          <p:nvPr/>
        </p:nvSpPr>
        <p:spPr>
          <a:xfrm>
            <a:off x="2428875" y="285750"/>
            <a:ext cx="6286500" cy="44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62" b="1" kern="0" spc="-1" dirty="0">
                <a:solidFill>
                  <a:srgbClr val="111111"/>
                </a:solidFill>
              </a:rPr>
              <a:t>Lab Demostrativo</a:t>
            </a:r>
            <a:endParaRPr lang="en-US" sz="2862" dirty="0"/>
          </a:p>
        </p:txBody>
      </p:sp>
      <p:sp>
        <p:nvSpPr>
          <p:cNvPr id="8" name="Text 5"/>
          <p:cNvSpPr/>
          <p:nvPr/>
        </p:nvSpPr>
        <p:spPr>
          <a:xfrm>
            <a:off x="2428875" y="797226"/>
            <a:ext cx="62865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44CC"/>
                </a:solidFill>
              </a:rPr>
              <a:t>Validación Práctica (VS Code + OpenSSL + Node.js)</a:t>
            </a:r>
            <a:endParaRPr lang="en-US" sz="1193" dirty="0"/>
          </a:p>
        </p:txBody>
      </p:sp>
      <p:sp>
        <p:nvSpPr>
          <p:cNvPr id="9" name="Shape 6"/>
          <p:cNvSpPr/>
          <p:nvPr/>
        </p:nvSpPr>
        <p:spPr>
          <a:xfrm>
            <a:off x="2428875" y="1416946"/>
            <a:ext cx="3600450" cy="2857500"/>
          </a:xfrm>
          <a:prstGeom prst="rect">
            <a:avLst/>
          </a:prstGeom>
          <a:solidFill>
            <a:srgbClr val="FFFFFF"/>
          </a:solidFill>
          <a:ln w="18288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0313" y="1880453"/>
            <a:ext cx="3457575" cy="193045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50806" y="1416946"/>
            <a:ext cx="2264569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44CC"/>
                </a:solidFill>
              </a:rPr>
              <a:t>Escenario 1: Éxito</a:t>
            </a:r>
            <a:endParaRPr lang="en-US" sz="987" dirty="0"/>
          </a:p>
        </p:txBody>
      </p:sp>
      <p:sp>
        <p:nvSpPr>
          <p:cNvPr id="12" name="Text 8"/>
          <p:cNvSpPr/>
          <p:nvPr/>
        </p:nvSpPr>
        <p:spPr>
          <a:xfrm>
            <a:off x="6450806" y="1647332"/>
            <a:ext cx="2264569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Cliente conecta a Servidor (Cert A) usando Pin A válido. Handshake completado.</a:t>
            </a:r>
            <a:endParaRPr lang="en-US" sz="834" dirty="0"/>
          </a:p>
        </p:txBody>
      </p:sp>
      <p:sp>
        <p:nvSpPr>
          <p:cNvPr id="13" name="Text 9"/>
          <p:cNvSpPr/>
          <p:nvPr/>
        </p:nvSpPr>
        <p:spPr>
          <a:xfrm>
            <a:off x="6450806" y="2110225"/>
            <a:ext cx="2264569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44CC"/>
                </a:solidFill>
              </a:rPr>
              <a:t>Escenario 2: Rotación</a:t>
            </a:r>
            <a:endParaRPr lang="en-US" sz="987" dirty="0"/>
          </a:p>
        </p:txBody>
      </p:sp>
      <p:sp>
        <p:nvSpPr>
          <p:cNvPr id="14" name="Text 10"/>
          <p:cNvSpPr/>
          <p:nvPr/>
        </p:nvSpPr>
        <p:spPr>
          <a:xfrm>
            <a:off x="6450806" y="2340611"/>
            <a:ext cx="2264569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Servidor rota a Cert B. Cliente con {PinA, PinB} sigue conectando sin interrupción.</a:t>
            </a:r>
            <a:endParaRPr lang="en-US" sz="834" dirty="0"/>
          </a:p>
        </p:txBody>
      </p:sp>
      <p:sp>
        <p:nvSpPr>
          <p:cNvPr id="15" name="Text 11"/>
          <p:cNvSpPr/>
          <p:nvPr/>
        </p:nvSpPr>
        <p:spPr>
          <a:xfrm>
            <a:off x="6450806" y="2803503"/>
            <a:ext cx="2264569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F3300"/>
                </a:solidFill>
              </a:rPr>
              <a:t>Escenario 3: MITM</a:t>
            </a:r>
            <a:endParaRPr lang="en-US" sz="987" dirty="0"/>
          </a:p>
        </p:txBody>
      </p:sp>
      <p:sp>
        <p:nvSpPr>
          <p:cNvPr id="16" name="Text 12"/>
          <p:cNvSpPr/>
          <p:nvPr/>
        </p:nvSpPr>
        <p:spPr>
          <a:xfrm>
            <a:off x="6450806" y="3033889"/>
            <a:ext cx="2264569" cy="48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Servidor presenta Cert C (válido por CA pero no pineado). Cliente rechaza conexión.</a:t>
            </a:r>
            <a:endParaRPr lang="en-US" sz="834" dirty="0"/>
          </a:p>
        </p:txBody>
      </p:sp>
      <p:sp>
        <p:nvSpPr>
          <p:cNvPr id="17" name="Shape 13"/>
          <p:cNvSpPr/>
          <p:nvPr/>
        </p:nvSpPr>
        <p:spPr>
          <a:xfrm>
            <a:off x="6252989" y="3804139"/>
            <a:ext cx="2497032" cy="1105323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8" name="Text 14"/>
          <p:cNvSpPr/>
          <p:nvPr/>
        </p:nvSpPr>
        <p:spPr>
          <a:xfrm>
            <a:off x="6457950" y="4027680"/>
            <a:ext cx="1043555" cy="1238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1100" b="1" dirty="0">
                <a:solidFill>
                  <a:schemeClr val="accent2">
                    <a:lumMod val="75000"/>
                  </a:schemeClr>
                </a:solidFill>
              </a:rPr>
              <a:t>Stack Tecnológico</a:t>
            </a:r>
            <a:endParaRPr lang="en-US" sz="11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" name="Text 15"/>
          <p:cNvSpPr/>
          <p:nvPr/>
        </p:nvSpPr>
        <p:spPr>
          <a:xfrm>
            <a:off x="6457950" y="4234848"/>
            <a:ext cx="2114550" cy="48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727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&gt; OpenSSL (CA Local + 3 Certs)
 &gt; Node.js HTTPS Server (Rotation)
 &gt; Node.js Client (Manual SPKI Check</a:t>
            </a:r>
            <a:r>
              <a:rPr lang="en-US" sz="727" dirty="0">
                <a:solidFill>
                  <a:srgbClr val="F5F5F5"/>
                </a:solidFill>
              </a:rPr>
              <a:t>)</a:t>
            </a:r>
            <a:endParaRPr lang="en-US" sz="727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96311"/>
            <a:ext cx="9144000" cy="557388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0"/>
            <a:ext cx="11204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000000"/>
                </a:solidFill>
              </a:rPr>
              <a:t>"&gt;</a:t>
            </a:r>
            <a:endParaRPr lang="en-US" sz="834" dirty="0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2000250" cy="5418506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Shape 2"/>
          <p:cNvSpPr/>
          <p:nvPr/>
        </p:nvSpPr>
        <p:spPr>
          <a:xfrm>
            <a:off x="1971675" y="155377"/>
            <a:ext cx="28575" cy="5418506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3"/>
          <p:cNvSpPr/>
          <p:nvPr/>
        </p:nvSpPr>
        <p:spPr>
          <a:xfrm>
            <a:off x="214313" y="441127"/>
            <a:ext cx="806888" cy="7298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6218" b="1" kern="0" spc="-4">
                <a:solidFill>
                  <a:schemeClr val="accent2">
                    <a:lumMod val="75000"/>
                  </a:schemeClr>
                </a:solidFill>
              </a:rPr>
              <a:t>16</a:t>
            </a:r>
            <a:endParaRPr lang="en-US" sz="6218" b="1" kern="0" spc="-4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214313" y="5341711"/>
            <a:ext cx="1571625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kern="0" spc="2" dirty="0">
                <a:solidFill>
                  <a:srgbClr val="F5F5F5">
                    <a:alpha val="80000"/>
                  </a:srgbClr>
                </a:solidFill>
              </a:rPr>
              <a:t>Final</a:t>
            </a:r>
            <a:endParaRPr lang="en-US" sz="942" dirty="0"/>
          </a:p>
        </p:txBody>
      </p:sp>
      <p:sp>
        <p:nvSpPr>
          <p:cNvPr id="8" name="Text 5"/>
          <p:cNvSpPr/>
          <p:nvPr/>
        </p:nvSpPr>
        <p:spPr>
          <a:xfrm>
            <a:off x="2571750" y="584002"/>
            <a:ext cx="6000750" cy="44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62" b="1" kern="0" spc="-1" dirty="0">
                <a:solidFill>
                  <a:srgbClr val="111111"/>
                </a:solidFill>
              </a:rPr>
              <a:t>Conclusión Ejecutiva</a:t>
            </a:r>
            <a:endParaRPr lang="en-US" sz="2862" dirty="0"/>
          </a:p>
        </p:txBody>
      </p:sp>
      <p:sp>
        <p:nvSpPr>
          <p:cNvPr id="9" name="Text 6"/>
          <p:cNvSpPr/>
          <p:nvPr/>
        </p:nvSpPr>
        <p:spPr>
          <a:xfrm>
            <a:off x="2571750" y="1024040"/>
            <a:ext cx="600075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44CC"/>
                </a:solidFill>
              </a:rPr>
              <a:t>Hoja de Ruta para Implementación Segura</a:t>
            </a:r>
            <a:endParaRPr lang="en-US" sz="1193" dirty="0"/>
          </a:p>
        </p:txBody>
      </p:sp>
      <p:sp>
        <p:nvSpPr>
          <p:cNvPr id="10" name="Text 7"/>
          <p:cNvSpPr/>
          <p:nvPr/>
        </p:nvSpPr>
        <p:spPr>
          <a:xfrm>
            <a:off x="2571750" y="1643760"/>
            <a:ext cx="317395" cy="34624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436" b="1" dirty="0">
                <a:solidFill>
                  <a:schemeClr val="accent2">
                    <a:lumMod val="75000"/>
                  </a:schemeClr>
                </a:solidFill>
              </a:rPr>
              <a:t>01</a:t>
            </a:r>
            <a:endParaRPr lang="en-US" sz="2436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1" name="Text 8"/>
          <p:cNvSpPr/>
          <p:nvPr/>
        </p:nvSpPr>
        <p:spPr>
          <a:xfrm>
            <a:off x="3214688" y="1643760"/>
            <a:ext cx="2250281" cy="5464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111111"/>
                </a:solidFill>
              </a:rPr>
              <a:t>Estándar Obligatorio</a:t>
            </a:r>
            <a:endParaRPr lang="en-US" sz="1397" dirty="0"/>
          </a:p>
        </p:txBody>
      </p:sp>
      <p:sp>
        <p:nvSpPr>
          <p:cNvPr id="12" name="Text 9"/>
          <p:cNvSpPr/>
          <p:nvPr/>
        </p:nvSpPr>
        <p:spPr>
          <a:xfrm>
            <a:off x="3214688" y="2261695"/>
            <a:ext cx="2250281" cy="9644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En el sector financiero, confiar ciegamente en las CAs del sistema operativo es un riesgo inaceptable. El pinning es la línea base de seguridad.</a:t>
            </a:r>
            <a:endParaRPr lang="en-US" sz="942" dirty="0"/>
          </a:p>
        </p:txBody>
      </p:sp>
      <p:sp>
        <p:nvSpPr>
          <p:cNvPr id="13" name="Text 10"/>
          <p:cNvSpPr/>
          <p:nvPr/>
        </p:nvSpPr>
        <p:spPr>
          <a:xfrm>
            <a:off x="5679281" y="1643760"/>
            <a:ext cx="317395" cy="34624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436" b="1" dirty="0">
                <a:solidFill>
                  <a:schemeClr val="accent2">
                    <a:lumMod val="75000"/>
                  </a:schemeClr>
                </a:solidFill>
              </a:rPr>
              <a:t>02</a:t>
            </a:r>
            <a:endParaRPr lang="en-US" sz="2436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4" name="Text 11"/>
          <p:cNvSpPr/>
          <p:nvPr/>
        </p:nvSpPr>
        <p:spPr>
          <a:xfrm>
            <a:off x="6322219" y="1643760"/>
            <a:ext cx="2250281" cy="27324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111111"/>
                </a:solidFill>
              </a:rPr>
              <a:t>Operación &gt; Código</a:t>
            </a:r>
            <a:endParaRPr lang="en-US" sz="1397" dirty="0"/>
          </a:p>
        </p:txBody>
      </p:sp>
      <p:sp>
        <p:nvSpPr>
          <p:cNvPr id="15" name="Text 12"/>
          <p:cNvSpPr/>
          <p:nvPr/>
        </p:nvSpPr>
        <p:spPr>
          <a:xfrm>
            <a:off x="6322219" y="1988446"/>
            <a:ext cx="2250281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El éxito no está en escribir el código de validación, sino en la estrategia de rotación. Sin </a:t>
            </a:r>
            <a:r>
              <a:rPr lang="en-US" sz="885" b="1" dirty="0">
                <a:solidFill>
                  <a:srgbClr val="333333"/>
                </a:solidFill>
              </a:rPr>
              <a:t>Pin Backup</a:t>
            </a:r>
            <a:r>
              <a:rPr lang="en-US" sz="942" dirty="0">
                <a:solidFill>
                  <a:srgbClr val="333333"/>
                </a:solidFill>
              </a:rPr>
              <a:t>, el proyecto fracasará.</a:t>
            </a:r>
            <a:endParaRPr lang="en-US" sz="942" dirty="0"/>
          </a:p>
        </p:txBody>
      </p:sp>
      <p:sp>
        <p:nvSpPr>
          <p:cNvPr id="16" name="Text 13"/>
          <p:cNvSpPr/>
          <p:nvPr/>
        </p:nvSpPr>
        <p:spPr>
          <a:xfrm>
            <a:off x="2571750" y="3368976"/>
            <a:ext cx="317395" cy="34624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436" b="1" dirty="0">
                <a:solidFill>
                  <a:schemeClr val="accent2">
                    <a:lumMod val="75000"/>
                  </a:schemeClr>
                </a:solidFill>
              </a:rPr>
              <a:t>03</a:t>
            </a:r>
            <a:endParaRPr lang="en-US" sz="2436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7" name="Text 14"/>
          <p:cNvSpPr/>
          <p:nvPr/>
        </p:nvSpPr>
        <p:spPr>
          <a:xfrm>
            <a:off x="3214688" y="3368976"/>
            <a:ext cx="5000625" cy="27324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111111"/>
                </a:solidFill>
              </a:rPr>
              <a:t>Estabilidad SPKI</a:t>
            </a:r>
            <a:endParaRPr lang="en-US" sz="1397" dirty="0"/>
          </a:p>
        </p:txBody>
      </p:sp>
      <p:sp>
        <p:nvSpPr>
          <p:cNvPr id="18" name="Text 15"/>
          <p:cNvSpPr/>
          <p:nvPr/>
        </p:nvSpPr>
        <p:spPr>
          <a:xfrm>
            <a:off x="3214688" y="3713662"/>
            <a:ext cx="5000625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Pinear la clave pública (SPKI) en lugar del certificado completo desacopla la seguridad de la burocracia de renovación anual.</a:t>
            </a:r>
            <a:endParaRPr lang="en-US" sz="942" dirty="0"/>
          </a:p>
        </p:txBody>
      </p:sp>
      <p:sp>
        <p:nvSpPr>
          <p:cNvPr id="19" name="Shape 16"/>
          <p:cNvSpPr/>
          <p:nvPr/>
        </p:nvSpPr>
        <p:spPr>
          <a:xfrm>
            <a:off x="2571750" y="4242299"/>
            <a:ext cx="6000750" cy="902959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0" name="Shape 17"/>
          <p:cNvSpPr/>
          <p:nvPr/>
        </p:nvSpPr>
        <p:spPr>
          <a:xfrm>
            <a:off x="2571750" y="4242299"/>
            <a:ext cx="71438" cy="902959"/>
          </a:xfrm>
          <a:prstGeom prst="rect">
            <a:avLst/>
          </a:prstGeom>
          <a:solidFill>
            <a:srgbClr val="0044CC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4625" y="4554475"/>
            <a:ext cx="285750" cy="28575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3143250" y="4385174"/>
            <a:ext cx="5286375" cy="4457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93" b="1" dirty="0">
                <a:solidFill>
                  <a:srgbClr val="F5F5F5"/>
                </a:solidFill>
              </a:rPr>
              <a:t>Próximo Paso: Auditar la configuración actual y asegurar la presencia de PinB en producción.</a:t>
            </a:r>
            <a:endParaRPr lang="en-US" sz="1193" dirty="0"/>
          </a:p>
        </p:txBody>
      </p:sp>
      <p:sp>
        <p:nvSpPr>
          <p:cNvPr id="23" name="Text 19"/>
          <p:cNvSpPr/>
          <p:nvPr/>
        </p:nvSpPr>
        <p:spPr>
          <a:xfrm>
            <a:off x="3143250" y="4866652"/>
            <a:ext cx="1917192" cy="1204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1000" b="1" dirty="0">
                <a:solidFill>
                  <a:schemeClr val="accent2">
                    <a:lumMod val="75000"/>
                  </a:schemeClr>
                </a:solidFill>
              </a:rPr>
              <a:t>Evitar el Auto-DoS </a:t>
            </a:r>
            <a:r>
              <a:rPr lang="en-US" sz="1000" b="1">
                <a:solidFill>
                  <a:schemeClr val="accent2">
                    <a:lumMod val="75000"/>
                  </a:schemeClr>
                </a:solidFill>
              </a:rPr>
              <a:t>es la </a:t>
            </a:r>
            <a:r>
              <a:rPr lang="en-US" sz="1000" b="1" dirty="0">
                <a:solidFill>
                  <a:schemeClr val="accent2">
                    <a:lumMod val="75000"/>
                  </a:schemeClr>
                </a:solidFill>
              </a:rPr>
              <a:t>prioridad #1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2000250" cy="51435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1"/>
          <p:cNvSpPr/>
          <p:nvPr/>
        </p:nvSpPr>
        <p:spPr>
          <a:xfrm>
            <a:off x="1971675" y="0"/>
            <a:ext cx="28575" cy="51435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214313" y="285750"/>
            <a:ext cx="806888" cy="7298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6218" b="1" kern="0" spc="-4">
                <a:solidFill>
                  <a:schemeClr val="accent2">
                    <a:lumMod val="75000"/>
                  </a:schemeClr>
                </a:solidFill>
              </a:rPr>
              <a:t>17</a:t>
            </a:r>
            <a:endParaRPr lang="en-US" sz="6218" b="1" kern="0" spc="-4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550077" y="2209742"/>
            <a:ext cx="605327" cy="2101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2800" kern="0" spc="2">
                <a:solidFill>
                  <a:schemeClr val="accent2">
                    <a:lumMod val="75000"/>
                  </a:schemeClr>
                </a:solidFill>
              </a:rPr>
              <a:t>FIN </a:t>
            </a:r>
            <a:endParaRPr lang="en-US" sz="28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2428875" y="285750"/>
            <a:ext cx="6259534" cy="433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62" b="1" kern="0" spc="-1">
                <a:solidFill>
                  <a:srgbClr val="111111"/>
                </a:solidFill>
              </a:rPr>
              <a:t>Buena página para entenderlo con React </a:t>
            </a:r>
            <a:endParaRPr lang="en-US" sz="2862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71F78C9C-9BC3-63E9-165F-9625C310853A}"/>
              </a:ext>
            </a:extLst>
          </p:cNvPr>
          <p:cNvSpPr txBox="1"/>
          <p:nvPr/>
        </p:nvSpPr>
        <p:spPr>
          <a:xfrm>
            <a:off x="2428874" y="1080838"/>
            <a:ext cx="636779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>
                <a:hlinkClick r:id="rId3"/>
              </a:rPr>
              <a:t>https://dev.to/ajmal_hasan/guide-to-implementing-ssl-pinning-in-react-native-for-ios-and-android-4coo</a:t>
            </a:r>
            <a:endParaRPr lang="es-CL"/>
          </a:p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460552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1983</Words>
  <Application>Microsoft Office PowerPoint</Application>
  <PresentationFormat>Presentación en pantalla (16:9)</PresentationFormat>
  <Paragraphs>270</Paragraphs>
  <Slides>18</Slides>
  <Notes>18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2" baseType="lpstr">
      <vt:lpstr>Arial</vt:lpstr>
      <vt:lpstr>Calibri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>Patricio Canelo Estay</Manager>
  <Company>Banco Estado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Certifcate Pinning PCE</dc:title>
  <dc:subject>Presentation Certifcate Pinning PCE</dc:subject>
  <dc:creator>Patricio Canelo</dc:creator>
  <cp:keywords>Patricio Canelo </cp:keywords>
  <cp:lastModifiedBy>Patricio Canelo Estay</cp:lastModifiedBy>
  <cp:revision>5</cp:revision>
  <dcterms:created xsi:type="dcterms:W3CDTF">2026-01-26T21:42:57Z</dcterms:created>
  <dcterms:modified xsi:type="dcterms:W3CDTF">2026-01-27T03:42:40Z</dcterms:modified>
  <cp:category>Seguridad App </cp:category>
  <cp:contentStatus>Draft</cp:contentStatu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fa05ac2-419e-4c0f-b1af-15172be547c3_Enabled">
    <vt:lpwstr>true</vt:lpwstr>
  </property>
  <property fmtid="{D5CDD505-2E9C-101B-9397-08002B2CF9AE}" pid="3" name="MSIP_Label_1fa05ac2-419e-4c0f-b1af-15172be547c3_SetDate">
    <vt:lpwstr>2026-01-26T21:56:08Z</vt:lpwstr>
  </property>
  <property fmtid="{D5CDD505-2E9C-101B-9397-08002B2CF9AE}" pid="4" name="MSIP_Label_1fa05ac2-419e-4c0f-b1af-15172be547c3_Method">
    <vt:lpwstr>Standard</vt:lpwstr>
  </property>
  <property fmtid="{D5CDD505-2E9C-101B-9397-08002B2CF9AE}" pid="5" name="MSIP_Label_1fa05ac2-419e-4c0f-b1af-15172be547c3_Name">
    <vt:lpwstr>Personal</vt:lpwstr>
  </property>
  <property fmtid="{D5CDD505-2E9C-101B-9397-08002B2CF9AE}" pid="6" name="MSIP_Label_1fa05ac2-419e-4c0f-b1af-15172be547c3_SiteId">
    <vt:lpwstr>189d9de0-0fef-4050-9094-e7cf9e6b3bb5</vt:lpwstr>
  </property>
  <property fmtid="{D5CDD505-2E9C-101B-9397-08002B2CF9AE}" pid="7" name="MSIP_Label_1fa05ac2-419e-4c0f-b1af-15172be547c3_ActionId">
    <vt:lpwstr>490dcd51-691d-4095-9b09-a506142a26ca</vt:lpwstr>
  </property>
  <property fmtid="{D5CDD505-2E9C-101B-9397-08002B2CF9AE}" pid="8" name="MSIP_Label_1fa05ac2-419e-4c0f-b1af-15172be547c3_ContentBits">
    <vt:lpwstr>2</vt:lpwstr>
  </property>
  <property fmtid="{D5CDD505-2E9C-101B-9397-08002B2CF9AE}" pid="9" name="ClassificationContentMarkingFooterLocations">
    <vt:lpwstr>Office Theme:3</vt:lpwstr>
  </property>
  <property fmtid="{D5CDD505-2E9C-101B-9397-08002B2CF9AE}" pid="10" name="ClassificationContentMarkingFooterText">
    <vt:lpwstr>Interna</vt:lpwstr>
  </property>
</Properties>
</file>